
<file path=[Content_Types].xml><?xml version="1.0" encoding="utf-8"?>
<Types xmlns="http://schemas.openxmlformats.org/package/2006/content-types">
  <Override PartName="/customXml/itemProps3.xml" ContentType="application/vnd.openxmlformats-officedocument.customXmlProperties+xml"/>
  <Override PartName="/ppt/slides/slide6.xml" ContentType="application/vnd.openxmlformats-officedocument.presentationml.slide+xml"/>
  <Override PartName="/ppt/tags/tag6.xml" ContentType="application/vnd.openxmlformats-officedocument.presentationml.tags+xml"/>
  <Override PartName="/ppt/tags/tag8.xml" ContentType="application/vnd.openxmlformats-officedocument.presentationml.tags+xml"/>
  <Default Extension="svg" ContentType="image/svg+xml"/>
  <Override PartName="/ppt/charts/style2.xml" ContentType="application/vnd.ms-office.chartstyle+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ags/tag4.xml" ContentType="application/vnd.openxmlformats-officedocument.presentationml.tags+xml"/>
  <Override PartName="/ppt/ink/ink8.xml" ContentType="application/inkml+xml"/>
  <Override PartName="/ppt/slides/slide2.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tags/tag2.xml" ContentType="application/vnd.openxmlformats-officedocument.presentationml.tags+xml"/>
  <Override PartName="/ppt/ink/ink6.xml" ContentType="application/inkml+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ink/ink4.xml" ContentType="application/inkml+xml"/>
  <Override PartName="/ppt/charts/colors2.xml" ContentType="application/vnd.ms-office.chartcolorstyl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tags/tag16.xml" ContentType="application/vnd.openxmlformats-officedocument.presentationml.tags+xml"/>
  <Override PartName="/ppt/tags/tag18.xml" ContentType="application/vnd.openxmlformats-officedocument.presentationml.tags+xml"/>
  <Override PartName="/ppt/tags/tag27.xml" ContentType="application/vnd.openxmlformats-officedocument.presentationml.tags+xml"/>
  <Override PartName="/docProps/custom.xml" ContentType="application/vnd.openxmlformats-officedocument.custom-properties+xml"/>
  <Override PartName="/ppt/ink/ink2.xml" ContentType="application/inkml+xml"/>
  <Override PartName="/ppt/commentAuthors.xml" ContentType="application/vnd.openxmlformats-officedocument.presentationml.commentAuthors+xml"/>
  <Override PartName="/ppt/tags/tag14.xml" ContentType="application/vnd.openxmlformats-officedocument.presentationml.tags+xml"/>
  <Override PartName="/ppt/tags/tag25.xml" ContentType="application/vnd.openxmlformats-officedocument.presentationml.tags+xml"/>
  <Override PartName="/ppt/tags/tag12.xml" ContentType="application/vnd.openxmlformats-officedocument.presentationml.tags+xml"/>
  <Override PartName="/ppt/tags/tag23.xml" ContentType="application/vnd.openxmlformats-officedocument.presentationml.tags+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tags/tag9.xml" ContentType="application/vnd.openxmlformats-officedocument.presentationml.tags+xml"/>
  <Override PartName="/ppt/tags/tag10.xml" ContentType="application/vnd.openxmlformats-officedocument.presentationml.tags+xml"/>
  <Override PartName="/ppt/charts/chart1.xml" ContentType="application/vnd.openxmlformats-officedocument.drawingml.chart+xml"/>
  <Override PartName="/ppt/tags/tag21.xml" ContentType="application/vnd.openxmlformats-officedocument.presentationml.tags+xml"/>
  <Override PartName="/customXml/itemProps2.xml" ContentType="application/vnd.openxmlformats-officedocument.customXmlProperties+xml"/>
  <Override PartName="/ppt/slides/slide5.xml" ContentType="application/vnd.openxmlformats-officedocument.presentationml.slide+xml"/>
  <Override PartName="/ppt/slides/slide19.xml" ContentType="application/vnd.openxmlformats-officedocument.presentationml.slide+xml"/>
  <Default Extension="png" ContentType="image/png"/>
  <Override PartName="/ppt/tags/tag7.xml" ContentType="application/vnd.openxmlformats-officedocument.presentationml.tags+xml"/>
  <Override PartName="/ppt/notesSlides/notesSlide1.xml" ContentType="application/vnd.openxmlformats-officedocument.presentationml.notesSlide+xml"/>
  <Override PartName="/ppt/charts/style1.xml" ContentType="application/vnd.ms-office.chartstyle+xml"/>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ags/tag5.xml" ContentType="application/vnd.openxmlformats-officedocument.presentationml.tags+xml"/>
  <Override PartName="/ppt/theme/theme2.xml" ContentType="application/vnd.openxmlformats-officedocument.theme+xml"/>
  <Override PartName="/ppt/ink/ink9.xml" ContentType="application/inkml+xml"/>
  <Override PartName="/ppt/slides/slide1.xml" ContentType="application/vnd.openxmlformats-officedocument.presentationml.slide+xml"/>
  <Override PartName="/ppt/slides/slide15.xml" ContentType="application/vnd.openxmlformats-officedocument.presentationml.slide+xml"/>
  <Override PartName="/ppt/slideLayouts/slideLayout3.xml" ContentType="application/vnd.openxmlformats-officedocument.presentationml.slideLayout+xml"/>
  <Override PartName="/ppt/tags/tag3.xml" ContentType="application/vnd.openxmlformats-officedocument.presentationml.tags+xml"/>
  <Override PartName="/ppt/ink/ink7.xml" ContentType="application/inkml+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tags/tag1.xml" ContentType="application/vnd.openxmlformats-officedocument.presentationml.tags+xml"/>
  <Override PartName="/ppt/slideLayouts/slideLayout1.xml" ContentType="application/vnd.openxmlformats-officedocument.presentationml.slideLayout+xml"/>
  <Override PartName="/ppt/tags/tag19.xml" ContentType="application/vnd.openxmlformats-officedocument.presentationml.tags+xml"/>
  <Override PartName="/docProps/app.xml" ContentType="application/vnd.openxmlformats-officedocument.extended-properties+xml"/>
  <Override PartName="/ppt/ink/ink3.xml" ContentType="application/inkml+xml"/>
  <Override PartName="/ppt/ink/ink5.xml" ContentType="application/inkml+xml"/>
  <Override PartName="/ppt/authors.xml" ContentType="application/vnd.ms-powerpoint.authors+xml"/>
  <Override PartName="/ppt/slides/slide11.xml" ContentType="application/vnd.openxmlformats-officedocument.presentationml.slide+xml"/>
  <Override PartName="/ppt/slides/slide20.xml" ContentType="application/vnd.openxmlformats-officedocument.presentationml.slide+xml"/>
  <Override PartName="/ppt/tags/tag17.xml" ContentType="application/vnd.openxmlformats-officedocument.presentationml.tags+xml"/>
  <Override PartName="/ppt/tags/tag26.xml" ContentType="application/vnd.openxmlformats-officedocument.presentationml.tags+xml"/>
  <Default Extension="wdp" ContentType="image/vnd.ms-photo"/>
  <Override PartName="/ppt/ink/ink1.xml" ContentType="application/inkml+xml"/>
  <Override PartName="/ppt/charts/colors1.xml" ContentType="application/vnd.ms-office.chartcolorstyle+xml"/>
  <Override PartName="/ppt/tags/tag15.xml" ContentType="application/vnd.openxmlformats-officedocument.presentationml.tags+xml"/>
  <Override PartName="/ppt/tags/tag24.xml" ContentType="application/vnd.openxmlformats-officedocument.presentationml.tags+xml"/>
  <Override PartName="/ppt/tags/tag13.xml" ContentType="application/vnd.openxmlformats-officedocument.presentationml.tags+xml"/>
  <Override PartName="/ppt/tags/tag22.xml" ContentType="application/vnd.openxmlformats-officedocument.presentationml.tags+xml"/>
  <Override PartName="/ppt/webextensions/webextension1.xml" ContentType="application/vnd.ms-office.webextension+xml"/>
  <Override PartName="/ppt/slides/slide8.xml" ContentType="application/vnd.openxmlformats-officedocument.presentationml.slide+xml"/>
  <Override PartName="/ppt/tags/tag11.xml" ContentType="application/vnd.openxmlformats-officedocument.presentationml.tags+xml"/>
  <Override PartName="/ppt/charts/chart2.xml" ContentType="application/vnd.openxmlformats-officedocument.drawingml.chart+xml"/>
  <Override PartName="/ppt/tags/tag20.xml" ContentType="application/vnd.openxmlformats-officedocument.presentationml.tags+xml"/>
  <Override PartName="/docProps/core.xml" ContentType="application/vnd.openxmlformats-package.core-properties+xml"/>
  <Override PartName="/ppt/webextensions/taskpanes.xml" ContentType="application/vnd.ms-office.webextensiontaskpan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11/relationships/webextensiontaskpanes" Target="ppt/webextensions/taskpanes.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28"/>
  </p:notesMasterIdLst>
  <p:sldIdLst>
    <p:sldId id="256" r:id="rId5"/>
    <p:sldId id="257" r:id="rId6"/>
    <p:sldId id="258" r:id="rId7"/>
    <p:sldId id="259" r:id="rId8"/>
    <p:sldId id="279" r:id="rId9"/>
    <p:sldId id="260" r:id="rId10"/>
    <p:sldId id="278" r:id="rId11"/>
    <p:sldId id="274" r:id="rId12"/>
    <p:sldId id="275" r:id="rId13"/>
    <p:sldId id="262" r:id="rId14"/>
    <p:sldId id="263" r:id="rId15"/>
    <p:sldId id="264" r:id="rId16"/>
    <p:sldId id="265" r:id="rId17"/>
    <p:sldId id="266" r:id="rId18"/>
    <p:sldId id="267" r:id="rId19"/>
    <p:sldId id="268" r:id="rId20"/>
    <p:sldId id="269" r:id="rId21"/>
    <p:sldId id="270" r:id="rId22"/>
    <p:sldId id="271" r:id="rId23"/>
    <p:sldId id="272" r:id="rId24"/>
    <p:sldId id="281" r:id="rId25"/>
    <p:sldId id="273" r:id="rId26"/>
    <p:sldId id="280" r:id="rId27"/>
  </p:sldIdLst>
  <p:sldSz cx="12192000" cy="6858000"/>
  <p:notesSz cx="6858000" cy="1857375"/>
  <p:custDataLst>
    <p:tags r:id="rId2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744" userDrawn="1">
          <p15:clr>
            <a:srgbClr val="A4A3A4"/>
          </p15:clr>
        </p15:guide>
        <p15:guide id="2" pos="288" userDrawn="1">
          <p15:clr>
            <a:srgbClr val="A4A3A4"/>
          </p15:clr>
        </p15:guide>
      </p15:sldGuideLst>
    </p:ext>
    <p:ext uri="{2D200454-40CA-4A62-9FC3-DE9A4176ACB9}">
      <p15:notesGuideLst xmlns:p15="http://schemas.microsoft.com/office/powerpoint/2012/main" xmlns=""/>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BD3AA52-0FB4-F6D0-6D07-1A3D2D9FD3FC}" name="Marianne Seidler" initials="MS" userId="S::mariannes@skillup.tech::bb0b4178-c940-4a9a-9c5e-e97bf5d50d86" providerId="AD"/>
  <p188:author id="{F554C3DC-94B8-9F7D-83FC-6D4CEC0DE845}" name="Dawn Teel-Friedman" initials="DTF" userId="Dawn Teel-Friedman"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Rose Malcolm" initials="RM" lastIdx="1" clrIdx="0">
    <p:extLst>
      <p:ext uri="{19B8F6BF-5375-455C-9EA6-DF929625EA0E}">
        <p15:presenceInfo xmlns:p15="http://schemas.microsoft.com/office/powerpoint/2012/main" xmlns="" userId="Rose Malcolm" providerId="None"/>
      </p:ext>
    </p:extLst>
  </p:cmAuthor>
  <p:cmAuthor id="2" name="Rose Malcolm" initials="RM [2]" lastIdx="7" clrIdx="1">
    <p:extLst>
      <p:ext uri="{19B8F6BF-5375-455C-9EA6-DF929625EA0E}">
        <p15:presenceInfo xmlns:p15="http://schemas.microsoft.com/office/powerpoint/2012/main" xmlns="" userId="17c9fa32013483c0" providerId="Windows Live"/>
      </p:ext>
    </p:extLst>
  </p:cmAuthor>
  <p:cmAuthor id="3" name="Ramesh Sannareddy" initials="RS" lastIdx="7" clrIdx="2">
    <p:extLst>
      <p:ext uri="{19B8F6BF-5375-455C-9EA6-DF929625EA0E}">
        <p15:presenceInfo xmlns:p15="http://schemas.microsoft.com/office/powerpoint/2012/main" xmlns="" userId="YZ5PSXVD06EfD4/04RF+4IpszM4ZmL7FtUZDJf4jPLA=" providerId="None"/>
      </p:ext>
    </p:extLst>
  </p:cmAuthor>
  <p:cmAuthor id="4" name="UPKAR LIDDER" initials="UL" lastIdx="2" clrIdx="3"/>
  <p:cmAuthor id="5" name="Beth Larsen" initials="BL" lastIdx="1" clrIdx="4">
    <p:extLst>
      <p:ext uri="{19B8F6BF-5375-455C-9EA6-DF929625EA0E}">
        <p15:presenceInfo xmlns:p15="http://schemas.microsoft.com/office/powerpoint/2012/main" xmlns="" userId="04edb8684ac0beb8" providerId="Windows Live"/>
      </p:ext>
    </p:extLst>
  </p:cmAuthor>
  <p:cmAuthor id="6" name="Matt Ockenfels" initials="MO" lastIdx="1" clrIdx="5">
    <p:extLst>
      <p:ext uri="{19B8F6BF-5375-455C-9EA6-DF929625EA0E}">
        <p15:presenceInfo xmlns:p15="http://schemas.microsoft.com/office/powerpoint/2012/main" xmlns="" userId="S::matto@skillup.tech::1f5f8b86-5465-4302-9a82-9a36d055e8b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clrMru>
    <a:srgbClr val="0072C3"/>
    <a:srgbClr val="E97B49"/>
    <a:srgbClr val="E76F39"/>
    <a:srgbClr val="007D79"/>
    <a:srgbClr val="D02670"/>
    <a:srgbClr val="231F20"/>
    <a:srgbClr val="33B1FF"/>
    <a:srgbClr val="262626"/>
    <a:srgbClr val="525252"/>
    <a:srgbClr val="BE95FF"/>
  </p:clrMru>
  <p:extLst>
    <p:ext uri="{E76CE94A-603C-4142-B9EB-6D1370010A27}">
      <p14:discardImageEditData xmlns:p14="http://schemas.microsoft.com/office/powerpoint/2010/main" xmlns="" val="0"/>
    </p:ext>
    <p:ext uri="{D31A062A-798A-4329-ABDD-BBA856620510}">
      <p14:defaultImageDpi xmlns:p14="http://schemas.microsoft.com/office/powerpoint/2010/main" xmlns=""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9713" autoAdjust="0"/>
    <p:restoredTop sz="91480" autoAdjust="0"/>
  </p:normalViewPr>
  <p:slideViewPr>
    <p:cSldViewPr snapToGrid="0">
      <p:cViewPr varScale="1">
        <p:scale>
          <a:sx n="64" d="100"/>
          <a:sy n="64" d="100"/>
        </p:scale>
        <p:origin x="-792" y="-108"/>
      </p:cViewPr>
      <p:guideLst>
        <p:guide orient="horz" pos="744"/>
        <p:guide pos="288"/>
      </p:guideLst>
    </p:cSldViewPr>
  </p:slideViewPr>
  <p:notesTextViewPr>
    <p:cViewPr>
      <p:scale>
        <a:sx n="1" d="1"/>
        <a:sy n="1" d="1"/>
      </p:scale>
      <p:origin x="0" y="0"/>
    </p:cViewPr>
  </p:notesTextViewPr>
  <p:sorterViewPr>
    <p:cViewPr varScale="1">
      <p:scale>
        <a:sx n="100" d="100"/>
        <a:sy n="100" d="100"/>
      </p:scale>
      <p:origin x="0" y="0"/>
    </p:cViewPr>
  </p:sorterViewPr>
  <p:notesViewPr>
    <p:cSldViewPr snapToGrid="0">
      <p:cViewPr varScale="1">
        <p:scale>
          <a:sx n="66" d="100"/>
          <a:sy n="66" d="100"/>
        </p:scale>
        <p:origin x="0" y="0"/>
      </p:cViewPr>
      <p:guideLst/>
    </p:cSldViewPr>
  </p:notes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gs" Target="tags/tag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commentAuthors" Target="commentAuthors.xml"/><Relationship Id="rId35" Type="http://schemas.microsoft.com/office/2018/10/relationships/authors" Target="authors.xml"/></Relationships>
</file>

<file path=ppt/charts/_rels/chart1.xml.rels><?xml version="1.0" encoding="UTF-8" standalone="yes"?>
<Relationships xmlns="http://schemas.openxmlformats.org/package/2006/relationships"><Relationship Id="rId3" Type="http://schemas.microsoft.com/office/2011/relationships/chartStyle" Target="style1.xml"/><Relationship Id="rId2" Type="http://schemas.microsoft.com/office/2011/relationships/chartColorStyle" Target="colors1.xml"/><Relationship Id="rId1" Type="http://schemas.openxmlformats.org/officeDocument/2006/relationships/oleObject" Target="file:///C:\Users\Sujoy%20Chakravarty\Downloads\job-postings%20(2).xlsx" TargetMode="External"/></Relationships>
</file>

<file path=ppt/charts/_rels/chart2.xml.rels><?xml version="1.0" encoding="UTF-8" standalone="yes"?>
<Relationships xmlns="http://schemas.openxmlformats.org/package/2006/relationships"><Relationship Id="rId3" Type="http://schemas.microsoft.com/office/2011/relationships/chartStyle" Target="style2.xml"/><Relationship Id="rId2" Type="http://schemas.microsoft.com/office/2011/relationships/chartColorStyle" Target="colors2.xml"/><Relationship Id="rId1" Type="http://schemas.openxmlformats.org/officeDocument/2006/relationships/oleObject" Target="file:///C:\Users\Sujoy%20Chakravarty\Downloads\popular-languages.xlsx" TargetMode="External"/></Relationships>
</file>

<file path=ppt/charts/chart1.xml><?xml version="1.0" encoding="utf-8"?>
<c:chartSpace xmlns:c="http://schemas.openxmlformats.org/drawingml/2006/chart" xmlns:a="http://schemas.openxmlformats.org/drawingml/2006/main" xmlns:r="http://schemas.openxmlformats.org/officeDocument/2006/relationships">
  <c:lang val="en-US"/>
  <c:chart>
    <c:title>
      <c:layout/>
      <c:spPr>
        <a:noFill/>
        <a:ln>
          <a:noFill/>
        </a:ln>
        <a:effectLst/>
      </c:spPr>
      <c:txPr>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endParaRPr lang="en-US"/>
        </a:p>
      </c:txPr>
    </c:title>
    <c:plotArea>
      <c:layout/>
      <c:barChart>
        <c:barDir val="bar"/>
        <c:grouping val="clustered"/>
        <c:ser>
          <c:idx val="0"/>
          <c:order val="0"/>
          <c:tx>
            <c:strRef>
              <c:f>Sheet!$B$1</c:f>
              <c:strCache>
                <c:ptCount val="1"/>
                <c:pt idx="0">
                  <c:v>Number of Job Postings</c:v>
                </c:pt>
              </c:strCache>
            </c:strRef>
          </c:tx>
          <c:spPr>
            <a:solidFill>
              <a:schemeClr val="accent1"/>
            </a:solidFill>
            <a:ln>
              <a:noFill/>
            </a:ln>
            <a:effectLst/>
          </c:spPr>
          <c:cat>
            <c:strRef>
              <c:f>Sheet!$A$2:$A$13</c:f>
              <c:strCache>
                <c:ptCount val="12"/>
                <c:pt idx="0">
                  <c:v>C</c:v>
                </c:pt>
                <c:pt idx="1">
                  <c:v>Java</c:v>
                </c:pt>
                <c:pt idx="2">
                  <c:v>JavaScript</c:v>
                </c:pt>
                <c:pt idx="3">
                  <c:v>Python</c:v>
                </c:pt>
                <c:pt idx="4">
                  <c:v>mysql</c:v>
                </c:pt>
                <c:pt idx="5">
                  <c:v>Oracle</c:v>
                </c:pt>
                <c:pt idx="6">
                  <c:v>C#</c:v>
                </c:pt>
                <c:pt idx="7">
                  <c:v>C++</c:v>
                </c:pt>
                <c:pt idx="8">
                  <c:v>SQL Server</c:v>
                </c:pt>
                <c:pt idx="9">
                  <c:v>MongoDB</c:v>
                </c:pt>
                <c:pt idx="10">
                  <c:v>Scala</c:v>
                </c:pt>
                <c:pt idx="11">
                  <c:v>PostgreSQL</c:v>
                </c:pt>
              </c:strCache>
            </c:strRef>
          </c:cat>
          <c:val>
            <c:numRef>
              <c:f>Sheet!$B$2:$B$13</c:f>
              <c:numCache>
                <c:formatCode>General</c:formatCode>
                <c:ptCount val="12"/>
                <c:pt idx="0">
                  <c:v>25114</c:v>
                </c:pt>
                <c:pt idx="1">
                  <c:v>3428</c:v>
                </c:pt>
                <c:pt idx="2">
                  <c:v>2248</c:v>
                </c:pt>
                <c:pt idx="3">
                  <c:v>1173</c:v>
                </c:pt>
                <c:pt idx="4">
                  <c:v>952</c:v>
                </c:pt>
                <c:pt idx="5">
                  <c:v>899</c:v>
                </c:pt>
                <c:pt idx="6">
                  <c:v>526</c:v>
                </c:pt>
                <c:pt idx="7">
                  <c:v>506</c:v>
                </c:pt>
                <c:pt idx="8">
                  <c:v>423</c:v>
                </c:pt>
                <c:pt idx="9">
                  <c:v>208</c:v>
                </c:pt>
                <c:pt idx="10">
                  <c:v>138</c:v>
                </c:pt>
                <c:pt idx="11">
                  <c:v>86</c:v>
                </c:pt>
              </c:numCache>
            </c:numRef>
          </c:val>
          <c:extLst xmlns:c16r2="http://schemas.microsoft.com/office/drawing/2015/06/chart">
            <c:ext xmlns:c16="http://schemas.microsoft.com/office/drawing/2014/chart" uri="{C3380CC4-5D6E-409C-BE32-E72D297353CC}">
              <c16:uniqueId val="{00000000-8CE4-4E87-A479-BF4294B4CB8F}"/>
            </c:ext>
          </c:extLst>
        </c:ser>
        <c:dLbls/>
        <c:gapWidth val="182"/>
        <c:axId val="236034304"/>
        <c:axId val="236048384"/>
      </c:barChart>
      <c:catAx>
        <c:axId val="236034304"/>
        <c:scaling>
          <c:orientation val="minMax"/>
        </c:scaling>
        <c:axPos val="l"/>
        <c:numFmt formatCode="General" sourceLinked="1"/>
        <c:maj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baseline="0">
                <a:solidFill>
                  <a:schemeClr val="tx1">
                    <a:lumMod val="65000"/>
                    <a:lumOff val="35000"/>
                  </a:schemeClr>
                </a:solidFill>
                <a:latin typeface="+mn-lt"/>
                <a:ea typeface="+mn-ea"/>
                <a:cs typeface="+mn-cs"/>
              </a:defRPr>
            </a:pPr>
            <a:endParaRPr lang="en-US"/>
          </a:p>
        </c:txPr>
        <c:crossAx val="236048384"/>
        <c:crosses val="autoZero"/>
        <c:auto val="1"/>
        <c:lblAlgn val="ctr"/>
        <c:lblOffset val="100"/>
      </c:catAx>
      <c:valAx>
        <c:axId val="236048384"/>
        <c:scaling>
          <c:orientation val="minMax"/>
        </c:scaling>
        <c:axPos val="b"/>
        <c:majorGridlines>
          <c:spPr>
            <a:ln w="9525" cap="flat" cmpd="sng" algn="ctr">
              <a:solidFill>
                <a:schemeClr val="tx1">
                  <a:lumMod val="15000"/>
                  <a:lumOff val="85000"/>
                </a:schemeClr>
              </a:solidFill>
              <a:round/>
            </a:ln>
            <a:effectLst/>
          </c:spPr>
        </c:majorGridlines>
        <c:numFmt formatCode="General" sourceLinked="1"/>
        <c:majorTickMark val="none"/>
        <c:tickLblPos val="nextTo"/>
        <c:spPr>
          <a:noFill/>
          <a:ln>
            <a:noFill/>
          </a:ln>
          <a:effectLst/>
        </c:spPr>
        <c:txPr>
          <a:bodyPr rot="-60000000" spcFirstLastPara="1" vertOverflow="ellipsis" vert="horz" wrap="square" anchor="ctr" anchorCtr="1"/>
          <a:lstStyle/>
          <a:p>
            <a:pPr>
              <a:defRPr sz="900" b="1" i="0" u="none" strike="noStrike" kern="1200" baseline="0">
                <a:solidFill>
                  <a:schemeClr val="tx1">
                    <a:lumMod val="65000"/>
                    <a:lumOff val="35000"/>
                  </a:schemeClr>
                </a:solidFill>
                <a:latin typeface="+mn-lt"/>
                <a:ea typeface="+mn-ea"/>
                <a:cs typeface="+mn-cs"/>
              </a:defRPr>
            </a:pPr>
            <a:endParaRPr lang="en-US"/>
          </a:p>
        </c:txPr>
        <c:crossAx val="236034304"/>
        <c:crosses val="autoZero"/>
        <c:crossBetween val="between"/>
      </c:valAx>
      <c:spPr>
        <a:noFill/>
        <a:ln>
          <a:noFill/>
        </a:ln>
        <a:effectLst/>
      </c:spPr>
    </c:plotArea>
    <c:legend>
      <c:legendPos val="r"/>
      <c:layout/>
      <c:spPr>
        <a:noFill/>
        <a:ln>
          <a:noFill/>
        </a:ln>
        <a:effectLst/>
      </c:spPr>
      <c:txPr>
        <a:bodyPr rot="0" spcFirstLastPara="1" vertOverflow="ellipsis" vert="horz" wrap="square" anchor="ctr" anchorCtr="1"/>
        <a:lstStyle/>
        <a:p>
          <a:pPr>
            <a:defRPr sz="900" b="1"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xmlns:c16r2="http://schemas.microsoft.com/office/drawing/2015/06/char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b="1"/>
      </a:pPr>
      <a:endParaRPr lang="en-US"/>
    </a:p>
  </c:txPr>
  <c:externalData r:id="rId1"/>
</c:chartSpace>
</file>

<file path=ppt/charts/chart2.xml><?xml version="1.0" encoding="utf-8"?>
<c:chartSpace xmlns:c="http://schemas.openxmlformats.org/drawingml/2006/chart" xmlns:a="http://schemas.openxmlformats.org/drawingml/2006/main" xmlns:r="http://schemas.openxmlformats.org/officeDocument/2006/relationships">
  <c:lang val="en-US"/>
  <c:style val="3"/>
  <c:chart>
    <c:title>
      <c:tx>
        <c:rich>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r>
              <a:rPr lang="en-IN"/>
              <a:t>Annual Average Salary(in $)</a:t>
            </a:r>
          </a:p>
        </c:rich>
      </c:tx>
      <c:layout/>
      <c:spPr>
        <a:noFill/>
        <a:ln>
          <a:noFill/>
        </a:ln>
        <a:effectLst/>
      </c:spPr>
    </c:title>
    <c:plotArea>
      <c:layout/>
      <c:barChart>
        <c:barDir val="bar"/>
        <c:grouping val="clustered"/>
        <c:ser>
          <c:idx val="0"/>
          <c:order val="0"/>
          <c:tx>
            <c:strRef>
              <c:f>Sheet1!$B$1</c:f>
              <c:strCache>
                <c:ptCount val="1"/>
                <c:pt idx="0">
                  <c:v>Annual Average Salary</c:v>
                </c:pt>
              </c:strCache>
            </c:strRef>
          </c:tx>
          <c:spPr>
            <a:solidFill>
              <a:schemeClr val="accent1"/>
            </a:solidFill>
            <a:ln>
              <a:noFill/>
            </a:ln>
            <a:effectLst/>
          </c:spPr>
          <c:cat>
            <c:strRef>
              <c:f>Sheet1!$A$2:$A$11</c:f>
              <c:strCache>
                <c:ptCount val="10"/>
                <c:pt idx="0">
                  <c:v>Swift</c:v>
                </c:pt>
                <c:pt idx="1">
                  <c:v>Python</c:v>
                </c:pt>
                <c:pt idx="2">
                  <c:v>C++</c:v>
                </c:pt>
                <c:pt idx="3">
                  <c:v>Javascript</c:v>
                </c:pt>
                <c:pt idx="4">
                  <c:v>Java</c:v>
                </c:pt>
                <c:pt idx="5">
                  <c:v>Go</c:v>
                </c:pt>
                <c:pt idx="6">
                  <c:v>R</c:v>
                </c:pt>
                <c:pt idx="7">
                  <c:v>C#</c:v>
                </c:pt>
                <c:pt idx="8">
                  <c:v>SQL</c:v>
                </c:pt>
                <c:pt idx="9">
                  <c:v>PHP</c:v>
                </c:pt>
              </c:strCache>
            </c:strRef>
          </c:cat>
          <c:val>
            <c:numRef>
              <c:f>Sheet1!$B$2:$B$11</c:f>
              <c:numCache>
                <c:formatCode>0.00</c:formatCode>
                <c:ptCount val="10"/>
                <c:pt idx="0">
                  <c:v>130801</c:v>
                </c:pt>
                <c:pt idx="1">
                  <c:v>114383</c:v>
                </c:pt>
                <c:pt idx="2">
                  <c:v>113865</c:v>
                </c:pt>
                <c:pt idx="3">
                  <c:v>110981</c:v>
                </c:pt>
                <c:pt idx="4">
                  <c:v>101013</c:v>
                </c:pt>
                <c:pt idx="5">
                  <c:v>94082</c:v>
                </c:pt>
                <c:pt idx="6">
                  <c:v>92037</c:v>
                </c:pt>
                <c:pt idx="7">
                  <c:v>88726</c:v>
                </c:pt>
                <c:pt idx="8">
                  <c:v>84793</c:v>
                </c:pt>
                <c:pt idx="9">
                  <c:v>84727</c:v>
                </c:pt>
              </c:numCache>
            </c:numRef>
          </c:val>
          <c:extLst xmlns:c16r2="http://schemas.microsoft.com/office/drawing/2015/06/chart">
            <c:ext xmlns:c16="http://schemas.microsoft.com/office/drawing/2014/chart" uri="{C3380CC4-5D6E-409C-BE32-E72D297353CC}">
              <c16:uniqueId val="{00000000-0577-41D1-8EFB-F30710C3FA5A}"/>
            </c:ext>
          </c:extLst>
        </c:ser>
        <c:dLbls/>
        <c:gapWidth val="182"/>
        <c:axId val="236683648"/>
        <c:axId val="236685184"/>
      </c:barChart>
      <c:catAx>
        <c:axId val="236683648"/>
        <c:scaling>
          <c:orientation val="minMax"/>
        </c:scaling>
        <c:axPos val="l"/>
        <c:numFmt formatCode="General" sourceLinked="1"/>
        <c:maj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baseline="0">
                <a:solidFill>
                  <a:schemeClr val="tx1">
                    <a:lumMod val="65000"/>
                    <a:lumOff val="35000"/>
                  </a:schemeClr>
                </a:solidFill>
                <a:latin typeface="+mn-lt"/>
                <a:ea typeface="+mn-ea"/>
                <a:cs typeface="+mn-cs"/>
              </a:defRPr>
            </a:pPr>
            <a:endParaRPr lang="en-US"/>
          </a:p>
        </c:txPr>
        <c:crossAx val="236685184"/>
        <c:crosses val="autoZero"/>
        <c:auto val="1"/>
        <c:lblAlgn val="ctr"/>
        <c:lblOffset val="100"/>
      </c:catAx>
      <c:valAx>
        <c:axId val="236685184"/>
        <c:scaling>
          <c:orientation val="minMax"/>
        </c:scaling>
        <c:axPos val="b"/>
        <c:majorGridlines>
          <c:spPr>
            <a:ln w="9525" cap="flat" cmpd="sng" algn="ctr">
              <a:solidFill>
                <a:schemeClr val="tx1">
                  <a:lumMod val="15000"/>
                  <a:lumOff val="85000"/>
                </a:schemeClr>
              </a:solidFill>
              <a:round/>
            </a:ln>
            <a:effectLst/>
          </c:spPr>
        </c:majorGridlines>
        <c:numFmt formatCode="0.00" sourceLinked="1"/>
        <c:majorTickMark val="none"/>
        <c:tickLblPos val="nextTo"/>
        <c:spPr>
          <a:noFill/>
          <a:ln>
            <a:noFill/>
          </a:ln>
          <a:effectLst/>
        </c:spPr>
        <c:txPr>
          <a:bodyPr rot="-60000000" spcFirstLastPara="1" vertOverflow="ellipsis" vert="horz" wrap="square" anchor="ctr" anchorCtr="1"/>
          <a:lstStyle/>
          <a:p>
            <a:pPr>
              <a:defRPr sz="900" b="1" i="0" u="none" strike="noStrike" kern="1200" baseline="0">
                <a:solidFill>
                  <a:schemeClr val="tx1">
                    <a:lumMod val="65000"/>
                    <a:lumOff val="35000"/>
                  </a:schemeClr>
                </a:solidFill>
                <a:latin typeface="+mn-lt"/>
                <a:ea typeface="+mn-ea"/>
                <a:cs typeface="+mn-cs"/>
              </a:defRPr>
            </a:pPr>
            <a:endParaRPr lang="en-US"/>
          </a:p>
        </c:txPr>
        <c:crossAx val="236683648"/>
        <c:crosses val="autoZero"/>
        <c:crossBetween val="between"/>
      </c:valAx>
      <c:spPr>
        <a:noFill/>
        <a:ln>
          <a:noFill/>
        </a:ln>
        <a:effectLst/>
      </c:spPr>
    </c:plotArea>
    <c:plotVisOnly val="1"/>
    <c:dispBlanksAs val="gap"/>
  </c:chart>
  <c:spPr>
    <a:noFill/>
    <a:ln>
      <a:noFill/>
    </a:ln>
    <a:effectLst/>
  </c:spPr>
  <c:txPr>
    <a:bodyPr/>
    <a:lstStyle/>
    <a:p>
      <a:pPr>
        <a:defRPr b="1"/>
      </a:pPr>
      <a:endParaRPr lang="en-US"/>
    </a:p>
  </c:txPr>
  <c:externalData r:id="rId1"/>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withinLinear" id="14">
  <a:schemeClr val="accent1"/>
</cs:colorStyle>
</file>

<file path=ppt/charts/style1.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88"/>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89"/>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9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0,'0'0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91"/>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0,'6'0,"-4"6,-2 2</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9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9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94"/>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95"/>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96"/>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497948-54D2-43F8-9A63-A99FE3051738}" type="datetimeFigureOut">
              <a:rPr lang="en-US" smtClean="0"/>
              <a:pPr/>
              <a:t>31-Mar-26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r>
              <a:rPr lang="en-US"/>
              <a:t> </a:t>
            </a: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BDA0E2-FEBD-4B65-8F16-724CF984F377}" type="slidenum">
              <a:rPr lang="en-US" smtClean="0"/>
              <a:pPr/>
              <a:t>‹#›</a:t>
            </a:fld>
            <a:endParaRPr lang="en-US"/>
          </a:p>
        </p:txBody>
      </p:sp>
    </p:spTree>
    <p:extLst>
      <p:ext uri="{BB962C8B-B14F-4D97-AF65-F5344CB8AC3E}">
        <p14:creationId xmlns:p14="http://schemas.microsoft.com/office/powerpoint/2010/main" xmlns="" val="2802222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EBDA0E2-FEBD-4B65-8F16-724CF984F377}" type="slidenum">
              <a:rPr lang="en-US" smtClean="0"/>
              <a:pPr/>
              <a:t>12</a:t>
            </a:fld>
            <a:endParaRPr lang="en-US"/>
          </a:p>
        </p:txBody>
      </p:sp>
    </p:spTree>
    <p:extLst>
      <p:ext uri="{BB962C8B-B14F-4D97-AF65-F5344CB8AC3E}">
        <p14:creationId xmlns:p14="http://schemas.microsoft.com/office/powerpoint/2010/main" xmlns="" val="2192001433"/>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3.xml"/><Relationship Id="rId6" Type="http://schemas.openxmlformats.org/officeDocument/2006/relationships/image" Target="../media/image5.svg"/><Relationship Id="rId5" Type="http://schemas.openxmlformats.org/officeDocument/2006/relationships/image" Target="../media/image3.png"/><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13873" y="1168401"/>
            <a:ext cx="10964254" cy="2387600"/>
          </a:xfrm>
          <a:solidFill>
            <a:schemeClr val="bg2"/>
          </a:solidFill>
        </p:spPr>
        <p:txBody>
          <a:bodyPr anchor="b">
            <a:normAutofit/>
          </a:bodyPr>
          <a:lstStyle>
            <a:lvl1pPr algn="ctr">
              <a:defRPr sz="4800" b="0" i="0">
                <a:solidFill>
                  <a:srgbClr val="525252"/>
                </a:solidFill>
                <a:latin typeface="IBM Plex Sans SemiBold" panose="020B0503050203000203" pitchFamily="34" charset="0"/>
                <a:ea typeface="IBM Plex Sans SemiBold" panose="020B0503050203000203" pitchFamily="34" charset="0"/>
                <a:cs typeface="IBM Plex Sans SemiBold" panose="020B0503050203000203" pitchFamily="34" charset="0"/>
              </a:defRPr>
            </a:lvl1pPr>
          </a:lstStyle>
          <a:p>
            <a:r>
              <a:rPr lang="en-US"/>
              <a:t>Click to edit Master title style</a:t>
            </a:r>
            <a:endParaRPr lang="en-US" dirty="0"/>
          </a:p>
        </p:txBody>
      </p:sp>
      <p:sp>
        <p:nvSpPr>
          <p:cNvPr id="3" name="Subtitle 2"/>
          <p:cNvSpPr>
            <a:spLocks noGrp="1"/>
          </p:cNvSpPr>
          <p:nvPr>
            <p:ph type="subTitle" idx="1"/>
          </p:nvPr>
        </p:nvSpPr>
        <p:spPr>
          <a:xfrm>
            <a:off x="1528273" y="3731247"/>
            <a:ext cx="9135454" cy="1655762"/>
          </a:xfrm>
        </p:spPr>
        <p:txBody>
          <a:bodyPr>
            <a:normAutofit/>
          </a:bodyPr>
          <a:lstStyle>
            <a:lvl1pPr marL="0" indent="0" algn="ctr">
              <a:buNone/>
              <a:defRPr sz="2400" b="0" i="0">
                <a:solidFill>
                  <a:srgbClr val="525252"/>
                </a:solidFill>
                <a:latin typeface="IBM Plex Sans" panose="020B050305020300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cxnSp>
        <p:nvCxnSpPr>
          <p:cNvPr id="8" name="Straight Connector 7"/>
          <p:cNvCxnSpPr/>
          <p:nvPr/>
        </p:nvCxnSpPr>
        <p:spPr>
          <a:xfrm>
            <a:off x="2880360" y="3649111"/>
            <a:ext cx="6431280" cy="0"/>
          </a:xfrm>
          <a:prstGeom prst="line">
            <a:avLst/>
          </a:prstGeom>
          <a:ln>
            <a:solidFill>
              <a:srgbClr val="6C4DEA"/>
            </a:solidFill>
          </a:ln>
        </p:spPr>
        <p:style>
          <a:lnRef idx="1">
            <a:schemeClr val="accent1"/>
          </a:lnRef>
          <a:fillRef idx="0">
            <a:schemeClr val="accent1"/>
          </a:fillRef>
          <a:effectRef idx="0">
            <a:schemeClr val="accent1"/>
          </a:effectRef>
          <a:fontRef idx="minor">
            <a:schemeClr val="tx1"/>
          </a:fontRef>
        </p:style>
      </p:cxnSp>
      <p:sp>
        <p:nvSpPr>
          <p:cNvPr id="9" name="Rectangle 8"/>
          <p:cNvSpPr>
            <a:spLocks noChangeArrowheads="1"/>
          </p:cNvSpPr>
          <p:nvPr/>
        </p:nvSpPr>
        <p:spPr bwMode="black">
          <a:xfrm>
            <a:off x="4093580" y="5537419"/>
            <a:ext cx="4004840" cy="304359"/>
          </a:xfrm>
          <a:prstGeom prst="rect">
            <a:avLst/>
          </a:prstGeom>
          <a:noFill/>
          <a:ln w="9525">
            <a:noFill/>
            <a:miter lim="800000"/>
            <a:headEnd/>
            <a:tailEnd/>
          </a:ln>
        </p:spPr>
        <p:txBody>
          <a:bodyPr lIns="92075" tIns="46038" rIns="92075" bIns="46038"/>
          <a:lstStyle>
            <a:lvl1pPr eaLnBrk="0" hangingPunct="0">
              <a:defRPr b="1">
                <a:solidFill>
                  <a:schemeClr val="tx1"/>
                </a:solidFill>
                <a:latin typeface="Arial" panose="020B0604020202020204" pitchFamily="34" charset="0"/>
                <a:cs typeface="Arial" panose="020B0604020202020204" pitchFamily="34" charset="0"/>
              </a:defRPr>
            </a:lvl1pPr>
            <a:lvl2pPr marL="742950" indent="-285750" eaLnBrk="0" hangingPunct="0">
              <a:defRPr b="1">
                <a:solidFill>
                  <a:schemeClr val="tx1"/>
                </a:solidFill>
                <a:latin typeface="Arial" panose="020B0604020202020204" pitchFamily="34" charset="0"/>
                <a:cs typeface="Arial" panose="020B0604020202020204" pitchFamily="34" charset="0"/>
              </a:defRPr>
            </a:lvl2pPr>
            <a:lvl3pPr marL="1143000" indent="-228600" eaLnBrk="0" hangingPunct="0">
              <a:defRPr b="1">
                <a:solidFill>
                  <a:schemeClr val="tx1"/>
                </a:solidFill>
                <a:latin typeface="Arial" panose="020B0604020202020204" pitchFamily="34" charset="0"/>
                <a:cs typeface="Arial" panose="020B0604020202020204" pitchFamily="34" charset="0"/>
              </a:defRPr>
            </a:lvl3pPr>
            <a:lvl4pPr marL="1600200" indent="-228600" eaLnBrk="0" hangingPunct="0">
              <a:defRPr b="1">
                <a:solidFill>
                  <a:schemeClr val="tx1"/>
                </a:solidFill>
                <a:latin typeface="Arial" panose="020B0604020202020204" pitchFamily="34" charset="0"/>
                <a:cs typeface="Arial" panose="020B0604020202020204" pitchFamily="34" charset="0"/>
              </a:defRPr>
            </a:lvl4pPr>
            <a:lvl5pPr marL="2057400" indent="-228600" eaLnBrk="0" hangingPunct="0">
              <a:defRPr b="1">
                <a:solidFill>
                  <a:schemeClr val="tx1"/>
                </a:solidFill>
                <a:latin typeface="Arial" panose="020B0604020202020204" pitchFamily="34" charset="0"/>
                <a:cs typeface="Arial" panose="020B0604020202020204" pitchFamily="34" charset="0"/>
              </a:defRPr>
            </a:lvl5pPr>
            <a:lvl6pPr marL="2514600" indent="-228600" algn="r"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algn="r"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algn="r"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algn="r"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algn="ctr" eaLnBrk="1" hangingPunct="1"/>
            <a:r>
              <a:rPr lang="en-US" sz="1400" b="0">
                <a:solidFill>
                  <a:srgbClr val="000000"/>
                </a:solidFill>
                <a:latin typeface="Helv"/>
              </a:rPr>
              <a:t>© IBM Corporation. All rights reserved.</a:t>
            </a:r>
          </a:p>
        </p:txBody>
      </p:sp>
      <p:grpSp>
        <p:nvGrpSpPr>
          <p:cNvPr id="5" name="Group 4">
            <a:extLst>
              <a:ext uri="{FF2B5EF4-FFF2-40B4-BE49-F238E27FC236}">
                <a16:creationId xmlns:a16="http://schemas.microsoft.com/office/drawing/2014/main" xmlns="" id="{CB5BAB42-A6B6-D2DB-EC91-721CA287B900}"/>
              </a:ext>
            </a:extLst>
          </p:cNvPr>
          <p:cNvGrpSpPr/>
          <p:nvPr userDrawn="1"/>
        </p:nvGrpSpPr>
        <p:grpSpPr>
          <a:xfrm>
            <a:off x="11094856" y="6244940"/>
            <a:ext cx="1098532" cy="613059"/>
            <a:chOff x="8965342" y="4231217"/>
            <a:chExt cx="1608171" cy="897474"/>
          </a:xfrm>
        </p:grpSpPr>
        <p:pic>
          <p:nvPicPr>
            <p:cNvPr id="6" name="Graphic 5">
              <a:extLst>
                <a:ext uri="{FF2B5EF4-FFF2-40B4-BE49-F238E27FC236}">
                  <a16:creationId xmlns:a16="http://schemas.microsoft.com/office/drawing/2014/main" xmlns="" id="{D9DAF80D-4D83-4EA4-3B9A-B4DEAA21CF43}"/>
                </a:ext>
              </a:extLst>
            </p:cNvPr>
            <p:cNvPicPr>
              <a:picLocks noChangeAspect="1"/>
            </p:cNvPicPr>
            <p:nvPr userDrawn="1"/>
          </p:nvPicPr>
          <p:blipFill>
            <a:blip r:embed="rId3">
              <a:extLst>
                <a:ext uri="{96DAC541-7B7A-43D3-8B79-37D633B846F1}">
                  <asvg:svgBlip xmlns:asvg="http://schemas.microsoft.com/office/drawing/2016/SVG/main" xmlns="" r:embed="rId4"/>
                </a:ext>
              </a:extLst>
            </a:blip>
            <a:stretch>
              <a:fillRect/>
            </a:stretch>
          </p:blipFill>
          <p:spPr>
            <a:xfrm>
              <a:off x="9321121" y="4418033"/>
              <a:ext cx="897474" cy="355817"/>
            </a:xfrm>
            <a:prstGeom prst="rect">
              <a:avLst/>
            </a:prstGeom>
          </p:spPr>
        </p:pic>
        <p:pic>
          <p:nvPicPr>
            <p:cNvPr id="11" name="Graphic 10" hidden="1">
              <a:extLst>
                <a:ext uri="{FF2B5EF4-FFF2-40B4-BE49-F238E27FC236}">
                  <a16:creationId xmlns:a16="http://schemas.microsoft.com/office/drawing/2014/main" xmlns="" id="{AA1B3EED-0A38-9B4D-C031-B7CFB1F16CD2}"/>
                </a:ext>
              </a:extLst>
            </p:cNvPr>
            <p:cNvPicPr>
              <a:picLocks noChangeAspect="1"/>
            </p:cNvPicPr>
            <p:nvPr userDrawn="1"/>
          </p:nvPicPr>
          <p:blipFill>
            <a:blip r:embed="rId5">
              <a:extLst>
                <a:ext uri="{96DAC541-7B7A-43D3-8B79-37D633B846F1}">
                  <asvg:svgBlip xmlns:asvg="http://schemas.microsoft.com/office/drawing/2016/SVG/main" xmlns="" r:embed="rId6"/>
                </a:ext>
              </a:extLst>
            </a:blip>
            <a:stretch>
              <a:fillRect/>
            </a:stretch>
          </p:blipFill>
          <p:spPr>
            <a:xfrm>
              <a:off x="9321121" y="4772874"/>
              <a:ext cx="897474" cy="355817"/>
            </a:xfrm>
            <a:prstGeom prst="rect">
              <a:avLst/>
            </a:prstGeom>
          </p:spPr>
        </p:pic>
        <p:pic>
          <p:nvPicPr>
            <p:cNvPr id="12" name="Graphic 11" hidden="1">
              <a:extLst>
                <a:ext uri="{FF2B5EF4-FFF2-40B4-BE49-F238E27FC236}">
                  <a16:creationId xmlns:a16="http://schemas.microsoft.com/office/drawing/2014/main" xmlns="" id="{D8BA40FF-052F-CEA2-8570-24062BFE0A7B}"/>
                </a:ext>
              </a:extLst>
            </p:cNvPr>
            <p:cNvPicPr>
              <a:picLocks noChangeAspect="1"/>
            </p:cNvPicPr>
            <p:nvPr userDrawn="1"/>
          </p:nvPicPr>
          <p:blipFill>
            <a:blip r:embed="rId5">
              <a:extLst>
                <a:ext uri="{96DAC541-7B7A-43D3-8B79-37D633B846F1}">
                  <asvg:svgBlip xmlns:asvg="http://schemas.microsoft.com/office/drawing/2016/SVG/main" xmlns="" r:embed="rId6"/>
                </a:ext>
              </a:extLst>
            </a:blip>
            <a:stretch>
              <a:fillRect/>
            </a:stretch>
          </p:blipFill>
          <p:spPr>
            <a:xfrm rot="16200000">
              <a:off x="9946868" y="4502045"/>
              <a:ext cx="897474" cy="355817"/>
            </a:xfrm>
            <a:prstGeom prst="rect">
              <a:avLst/>
            </a:prstGeom>
          </p:spPr>
        </p:pic>
        <p:pic>
          <p:nvPicPr>
            <p:cNvPr id="13" name="Graphic 12" hidden="1">
              <a:extLst>
                <a:ext uri="{FF2B5EF4-FFF2-40B4-BE49-F238E27FC236}">
                  <a16:creationId xmlns:a16="http://schemas.microsoft.com/office/drawing/2014/main" xmlns="" id="{10305589-4F05-9658-71A7-2F6E7BFE9524}"/>
                </a:ext>
              </a:extLst>
            </p:cNvPr>
            <p:cNvPicPr>
              <a:picLocks noChangeAspect="1"/>
            </p:cNvPicPr>
            <p:nvPr userDrawn="1"/>
          </p:nvPicPr>
          <p:blipFill>
            <a:blip r:embed="rId5">
              <a:extLst>
                <a:ext uri="{96DAC541-7B7A-43D3-8B79-37D633B846F1}">
                  <asvg:svgBlip xmlns:asvg="http://schemas.microsoft.com/office/drawing/2016/SVG/main" xmlns="" r:embed="rId6"/>
                </a:ext>
              </a:extLst>
            </a:blip>
            <a:stretch>
              <a:fillRect/>
            </a:stretch>
          </p:blipFill>
          <p:spPr>
            <a:xfrm rot="16200000">
              <a:off x="8694514" y="4502045"/>
              <a:ext cx="897474" cy="355817"/>
            </a:xfrm>
            <a:prstGeom prst="rect">
              <a:avLst/>
            </a:prstGeom>
          </p:spPr>
        </p:pic>
      </p:grpSp>
      <p:pic>
        <p:nvPicPr>
          <p:cNvPr id="14" name="Graphic 13">
            <a:extLst>
              <a:ext uri="{FF2B5EF4-FFF2-40B4-BE49-F238E27FC236}">
                <a16:creationId xmlns:a16="http://schemas.microsoft.com/office/drawing/2014/main" xmlns="" id="{EEFE9B80-1CD0-9614-4D99-C0FA5B74A8B1}"/>
              </a:ext>
            </a:extLst>
          </p:cNvPr>
          <p:cNvPicPr>
            <a:picLocks noChangeAspect="1"/>
          </p:cNvPicPr>
          <p:nvPr userDrawn="1"/>
        </p:nvPicPr>
        <p:blipFill>
          <a:blip r:embed="rId7">
            <a:extLst>
              <a:ext uri="{96DAC541-7B7A-43D3-8B79-37D633B846F1}">
                <asvg:svgBlip xmlns:asvg="http://schemas.microsoft.com/office/drawing/2016/SVG/main" xmlns="" r:embed="rId8"/>
              </a:ext>
            </a:extLst>
          </a:blip>
          <a:stretch>
            <a:fillRect/>
          </a:stretch>
        </p:blipFill>
        <p:spPr>
          <a:xfrm>
            <a:off x="241053" y="6372101"/>
            <a:ext cx="1630680" cy="247650"/>
          </a:xfrm>
          <a:prstGeom prst="rect">
            <a:avLst/>
          </a:prstGeom>
        </p:spPr>
      </p:pic>
    </p:spTree>
    <p:custDataLst>
      <p:tags r:id="rId1"/>
    </p:custDataLst>
    <p:extLst>
      <p:ext uri="{BB962C8B-B14F-4D97-AF65-F5344CB8AC3E}">
        <p14:creationId xmlns:p14="http://schemas.microsoft.com/office/powerpoint/2010/main" xmlns="" val="37361523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525252"/>
                </a:solidFill>
              </a:defRPr>
            </a:lvl1pPr>
          </a:lstStyle>
          <a:p>
            <a:r>
              <a:rPr lang="en-US"/>
              <a:t>Click to edit Master title style</a:t>
            </a:r>
            <a:endParaRPr lang="en-US" dirty="0"/>
          </a:p>
        </p:txBody>
      </p:sp>
      <p:sp>
        <p:nvSpPr>
          <p:cNvPr id="3" name="Content Placeholder 2"/>
          <p:cNvSpPr>
            <a:spLocks noGrp="1"/>
          </p:cNvSpPr>
          <p:nvPr>
            <p:ph idx="1"/>
          </p:nvPr>
        </p:nvSpPr>
        <p:spPr>
          <a:xfrm>
            <a:off x="838200" y="1600199"/>
            <a:ext cx="10744200" cy="4572000"/>
          </a:xfrm>
        </p:spPr>
        <p:txBody>
          <a:bodyPr/>
          <a:lstStyle>
            <a:lvl1pPr>
              <a:defRPr>
                <a:solidFill>
                  <a:srgbClr val="262626"/>
                </a:solidFill>
              </a:defRPr>
            </a:lvl1pPr>
            <a:lvl2pPr>
              <a:defRPr>
                <a:solidFill>
                  <a:srgbClr val="262626"/>
                </a:solidFill>
              </a:defRPr>
            </a:lvl2pPr>
            <a:lvl3pPr>
              <a:defRPr>
                <a:solidFill>
                  <a:srgbClr val="262626"/>
                </a:solidFill>
              </a:defRPr>
            </a:lvl3pPr>
            <a:lvl4pPr>
              <a:defRPr>
                <a:solidFill>
                  <a:srgbClr val="262626"/>
                </a:solidFill>
              </a:defRPr>
            </a:lvl4pPr>
            <a:lvl5pPr>
              <a:defRPr>
                <a:solidFill>
                  <a:srgbClr val="262626"/>
                </a:solidFill>
              </a:defRPr>
            </a:lvl5pPr>
          </a:lstStyle>
          <a:p>
            <a:pPr lvl="0"/>
            <a:r>
              <a:rPr lang="en-US"/>
              <a:t>Click to edit Master text styles</a:t>
            </a:r>
          </a:p>
          <a:p>
            <a:pPr lvl="1"/>
            <a:r>
              <a:rPr lang="en-US"/>
              <a:t>Second level</a:t>
            </a:r>
          </a:p>
          <a:p>
            <a:pPr lvl="2"/>
            <a:r>
              <a:rPr lang="en-US"/>
              <a:t>Third level</a:t>
            </a:r>
          </a:p>
        </p:txBody>
      </p:sp>
      <p:cxnSp>
        <p:nvCxnSpPr>
          <p:cNvPr id="7" name="Straight Connector 6"/>
          <p:cNvCxnSpPr/>
          <p:nvPr/>
        </p:nvCxnSpPr>
        <p:spPr>
          <a:xfrm>
            <a:off x="838200" y="1296645"/>
            <a:ext cx="10515600" cy="368"/>
          </a:xfrm>
          <a:prstGeom prst="line">
            <a:avLst/>
          </a:prstGeom>
          <a:ln>
            <a:solidFill>
              <a:srgbClr val="6C4DEA"/>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xmlns="" val="149702998"/>
      </p:ext>
    </p:extLst>
  </p:cSld>
  <p:clrMapOvr>
    <a:masterClrMapping/>
  </p:clrMapOvr>
  <p:extLst>
    <p:ext uri="{DCECCB84-F9BA-43D5-87BE-67443E8EF086}">
      <p15:sldGuideLst xmlns:p15="http://schemas.microsoft.com/office/powerpoint/2012/main" xmlns="">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i="0">
                <a:solidFill>
                  <a:srgbClr val="525252"/>
                </a:solidFill>
                <a:latin typeface="IBM Plex Sans SemiBold" panose="020B0503050203000203" pitchFamily="34" charset="0"/>
              </a:defRPr>
            </a:lvl1pPr>
          </a:lstStyle>
          <a:p>
            <a:r>
              <a:rPr lang="en-US"/>
              <a:t>Click to edit Master title style</a:t>
            </a:r>
            <a:endParaRPr lang="en-US" dirty="0"/>
          </a:p>
        </p:txBody>
      </p:sp>
      <p:sp>
        <p:nvSpPr>
          <p:cNvPr id="3" name="Content Placeholder 2"/>
          <p:cNvSpPr>
            <a:spLocks noGrp="1"/>
          </p:cNvSpPr>
          <p:nvPr>
            <p:ph sz="half" idx="1"/>
          </p:nvPr>
        </p:nvSpPr>
        <p:spPr>
          <a:xfrm>
            <a:off x="838200" y="1600200"/>
            <a:ext cx="5181600" cy="4572000"/>
          </a:xfrm>
        </p:spPr>
        <p:txBody>
          <a:bodyPr/>
          <a:lstStyle>
            <a:lvl1pPr>
              <a:defRPr>
                <a:solidFill>
                  <a:srgbClr val="262626"/>
                </a:solidFill>
              </a:defRPr>
            </a:lvl1pPr>
            <a:lvl2pPr>
              <a:defRPr>
                <a:solidFill>
                  <a:srgbClr val="262626"/>
                </a:solidFill>
              </a:defRPr>
            </a:lvl2pPr>
            <a:lvl3pPr>
              <a:defRPr>
                <a:solidFill>
                  <a:srgbClr val="262626"/>
                </a:solidFill>
              </a:defRPr>
            </a:lvl3pPr>
            <a:lvl4pPr>
              <a:defRPr>
                <a:solidFill>
                  <a:srgbClr val="525252"/>
                </a:solidFill>
              </a:defRPr>
            </a:lvl4pPr>
            <a:lvl5pPr>
              <a:defRPr>
                <a:solidFill>
                  <a:srgbClr val="525252"/>
                </a:solidFill>
              </a:defRPr>
            </a:lvl5pPr>
          </a:lstStyle>
          <a:p>
            <a:pPr lvl="0"/>
            <a:r>
              <a:rPr lang="en-US"/>
              <a:t>Click to edit Master text styles</a:t>
            </a:r>
          </a:p>
          <a:p>
            <a:pPr lvl="1"/>
            <a:r>
              <a:rPr lang="en-US"/>
              <a:t>Second level</a:t>
            </a:r>
          </a:p>
          <a:p>
            <a:pPr lvl="2"/>
            <a:r>
              <a:rPr lang="en-US"/>
              <a:t>Third level</a:t>
            </a:r>
          </a:p>
        </p:txBody>
      </p:sp>
      <p:sp>
        <p:nvSpPr>
          <p:cNvPr id="4" name="Content Placeholder 3"/>
          <p:cNvSpPr>
            <a:spLocks noGrp="1"/>
          </p:cNvSpPr>
          <p:nvPr>
            <p:ph sz="half" idx="2"/>
          </p:nvPr>
        </p:nvSpPr>
        <p:spPr>
          <a:xfrm>
            <a:off x="6172200" y="1600200"/>
            <a:ext cx="5181600" cy="4572000"/>
          </a:xfrm>
        </p:spPr>
        <p:txBody>
          <a:bodyPr/>
          <a:lstStyle>
            <a:lvl1pPr>
              <a:defRPr>
                <a:solidFill>
                  <a:srgbClr val="262626"/>
                </a:solidFill>
              </a:defRPr>
            </a:lvl1pPr>
            <a:lvl2pPr>
              <a:defRPr>
                <a:solidFill>
                  <a:srgbClr val="262626"/>
                </a:solidFill>
              </a:defRPr>
            </a:lvl2pPr>
            <a:lvl3pPr>
              <a:defRPr>
                <a:solidFill>
                  <a:srgbClr val="262626"/>
                </a:solidFill>
              </a:defRPr>
            </a:lvl3pPr>
            <a:lvl4pPr>
              <a:defRPr>
                <a:solidFill>
                  <a:srgbClr val="525252"/>
                </a:solidFill>
              </a:defRPr>
            </a:lvl4pPr>
            <a:lvl5pPr>
              <a:defRPr>
                <a:solidFill>
                  <a:srgbClr val="525252"/>
                </a:solidFill>
              </a:defRPr>
            </a:lvl5pPr>
          </a:lstStyle>
          <a:p>
            <a:pPr lvl="0"/>
            <a:r>
              <a:rPr lang="en-US"/>
              <a:t>Click to edit Master text styles</a:t>
            </a:r>
          </a:p>
          <a:p>
            <a:pPr lvl="1"/>
            <a:r>
              <a:rPr lang="en-US"/>
              <a:t>Second level</a:t>
            </a:r>
          </a:p>
          <a:p>
            <a:pPr lvl="2"/>
            <a:r>
              <a:rPr lang="en-US"/>
              <a:t>Third level</a:t>
            </a:r>
          </a:p>
        </p:txBody>
      </p:sp>
      <p:cxnSp>
        <p:nvCxnSpPr>
          <p:cNvPr id="8" name="Straight Connector 7"/>
          <p:cNvCxnSpPr/>
          <p:nvPr/>
        </p:nvCxnSpPr>
        <p:spPr>
          <a:xfrm>
            <a:off x="838200" y="1364249"/>
            <a:ext cx="10515600" cy="368"/>
          </a:xfrm>
          <a:prstGeom prst="line">
            <a:avLst/>
          </a:prstGeom>
          <a:ln>
            <a:solidFill>
              <a:srgbClr val="6C4DEA"/>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xmlns="" val="28713435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xmlns="" val="7934645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9" name="Title 1"/>
          <p:cNvSpPr>
            <a:spLocks noGrp="1"/>
          </p:cNvSpPr>
          <p:nvPr>
            <p:ph type="ctrTitle"/>
          </p:nvPr>
        </p:nvSpPr>
        <p:spPr>
          <a:xfrm>
            <a:off x="1524000" y="1122363"/>
            <a:ext cx="9144000" cy="2387600"/>
          </a:xfrm>
        </p:spPr>
        <p:txBody>
          <a:bodyPr anchor="b">
            <a:normAutofit/>
          </a:bodyPr>
          <a:lstStyle>
            <a:lvl1pPr algn="ctr">
              <a:defRPr sz="4800" b="1" i="0">
                <a:solidFill>
                  <a:srgbClr val="525252"/>
                </a:solidFill>
                <a:latin typeface="IBM Plex Sans SemiBold" panose="020B0503050203000203" pitchFamily="34" charset="0"/>
                <a:ea typeface="IBM Plex Sans SemiBold" panose="020B0503050203000203" pitchFamily="34" charset="0"/>
                <a:cs typeface="IBM Plex Sans SemiBold" panose="020B0503050203000203" pitchFamily="34" charset="0"/>
              </a:defRPr>
            </a:lvl1pPr>
          </a:lstStyle>
          <a:p>
            <a:r>
              <a:rPr lang="en-US"/>
              <a:t>Click to edit Master title style</a:t>
            </a:r>
          </a:p>
        </p:txBody>
      </p:sp>
    </p:spTree>
    <p:extLst>
      <p:ext uri="{BB962C8B-B14F-4D97-AF65-F5344CB8AC3E}">
        <p14:creationId xmlns:p14="http://schemas.microsoft.com/office/powerpoint/2010/main" xmlns="" val="11732707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2_Blank">
    <p:bg>
      <p:bgPr>
        <a:solidFill>
          <a:schemeClr val="bg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xmlns="" val="41572469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ags" Target="../tags/tag2.xml"/><Relationship Id="rId13"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theme" Target="../theme/theme1.xml"/><Relationship Id="rId12" Type="http://schemas.openxmlformats.org/officeDocument/2006/relationships/image" Target="../media/image3.svg"/><Relationship Id="rId2" Type="http://schemas.openxmlformats.org/officeDocument/2006/relationships/slideLayout" Target="../slideLayouts/slideLayout2.xml"/><Relationship Id="rId16" Type="http://schemas.openxmlformats.org/officeDocument/2006/relationships/image" Target="../media/image7.sv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2.png"/><Relationship Id="rId5" Type="http://schemas.openxmlformats.org/officeDocument/2006/relationships/slideLayout" Target="../slideLayouts/slideLayout5.xml"/><Relationship Id="rId15" Type="http://schemas.openxmlformats.org/officeDocument/2006/relationships/image" Target="../media/image4.png"/><Relationship Id="rId10" Type="http://schemas.microsoft.com/office/2007/relationships/hdphoto" Target="../media/hdphoto1.wdp"/><Relationship Id="rId4" Type="http://schemas.openxmlformats.org/officeDocument/2006/relationships/slideLayout" Target="../slideLayouts/slideLayout4.xml"/><Relationship Id="rId9" Type="http://schemas.openxmlformats.org/officeDocument/2006/relationships/image" Target="../media/image1.png"/><Relationship Id="rId14" Type="http://schemas.openxmlformats.org/officeDocument/2006/relationships/image" Target="../media/image5.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47850"/>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p:txBody>
      </p:sp>
      <p:pic>
        <p:nvPicPr>
          <p:cNvPr id="12" name="Picture 11" descr="Text, logo&#10;&#10;Description automatically generated">
            <a:extLst>
              <a:ext uri="{FF2B5EF4-FFF2-40B4-BE49-F238E27FC236}">
                <a16:creationId xmlns:a16="http://schemas.microsoft.com/office/drawing/2014/main" xmlns="" id="{05161552-D656-B925-AB2F-4CA5F6FE7270}"/>
              </a:ext>
            </a:extLst>
          </p:cNvPr>
          <p:cNvPicPr>
            <a:picLocks noChangeAspect="1"/>
          </p:cNvPicPr>
          <p:nvPr userDrawn="1"/>
        </p:nvPicPr>
        <p:blipFill rotWithShape="1">
          <a:blip r:embed="rId9">
            <a:alphaModFix amt="5000"/>
            <a:extLst>
              <a:ext uri="{BEBA8EAE-BF5A-486C-A8C5-ECC9F3942E4B}">
                <a14:imgProps xmlns:a14="http://schemas.microsoft.com/office/drawing/2010/main" xmlns="">
                  <a14:imgLayer r:embed="rId10">
                    <a14:imgEffect>
                      <a14:saturation sat="155000"/>
                    </a14:imgEffect>
                    <a14:imgEffect>
                      <a14:brightnessContrast contrast="-77000"/>
                    </a14:imgEffect>
                  </a14:imgLayer>
                </a14:imgProps>
              </a:ext>
            </a:extLst>
          </a:blip>
          <a:srcRect l="-1923" r="70315"/>
          <a:stretch/>
        </p:blipFill>
        <p:spPr>
          <a:xfrm>
            <a:off x="3345127" y="1418811"/>
            <a:ext cx="5501746" cy="4826130"/>
          </a:xfrm>
          <a:prstGeom prst="rect">
            <a:avLst/>
          </a:prstGeom>
        </p:spPr>
      </p:pic>
      <p:sp>
        <p:nvSpPr>
          <p:cNvPr id="4" name="Rectangle 3">
            <a:extLst>
              <a:ext uri="{FF2B5EF4-FFF2-40B4-BE49-F238E27FC236}">
                <a16:creationId xmlns:a16="http://schemas.microsoft.com/office/drawing/2014/main" xmlns="" id="{AE377BDD-6725-68B2-639C-E47C9B4601F2}"/>
              </a:ext>
            </a:extLst>
          </p:cNvPr>
          <p:cNvSpPr/>
          <p:nvPr userDrawn="1"/>
        </p:nvSpPr>
        <p:spPr>
          <a:xfrm>
            <a:off x="12625444" y="2728308"/>
            <a:ext cx="1235879" cy="1235878"/>
          </a:xfrm>
          <a:prstGeom prst="rect">
            <a:avLst/>
          </a:prstGeom>
          <a:solidFill>
            <a:srgbClr val="BE95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#BE95FF</a:t>
            </a:r>
          </a:p>
        </p:txBody>
      </p:sp>
      <p:sp>
        <p:nvSpPr>
          <p:cNvPr id="5" name="Rectangle 4">
            <a:extLst>
              <a:ext uri="{FF2B5EF4-FFF2-40B4-BE49-F238E27FC236}">
                <a16:creationId xmlns:a16="http://schemas.microsoft.com/office/drawing/2014/main" xmlns="" id="{18771CE0-19C9-5FCF-1B71-ACF36DEE6664}"/>
              </a:ext>
            </a:extLst>
          </p:cNvPr>
          <p:cNvSpPr/>
          <p:nvPr userDrawn="1"/>
        </p:nvSpPr>
        <p:spPr>
          <a:xfrm>
            <a:off x="18071881" y="2728308"/>
            <a:ext cx="1235879" cy="1235878"/>
          </a:xfrm>
          <a:prstGeom prst="rect">
            <a:avLst/>
          </a:prstGeom>
          <a:solidFill>
            <a:srgbClr val="33B1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#33B1FF</a:t>
            </a:r>
          </a:p>
        </p:txBody>
      </p:sp>
      <p:sp>
        <p:nvSpPr>
          <p:cNvPr id="6" name="Rectangle 5">
            <a:extLst>
              <a:ext uri="{FF2B5EF4-FFF2-40B4-BE49-F238E27FC236}">
                <a16:creationId xmlns:a16="http://schemas.microsoft.com/office/drawing/2014/main" xmlns="" id="{832A3F44-3AAC-9557-E214-F323108F6B65}"/>
              </a:ext>
            </a:extLst>
          </p:cNvPr>
          <p:cNvSpPr/>
          <p:nvPr userDrawn="1"/>
        </p:nvSpPr>
        <p:spPr>
          <a:xfrm>
            <a:off x="14440923" y="2728308"/>
            <a:ext cx="1235879" cy="1235878"/>
          </a:xfrm>
          <a:prstGeom prst="rect">
            <a:avLst/>
          </a:prstGeom>
          <a:solidFill>
            <a:srgbClr val="FF7EB6"/>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#FF7EB6</a:t>
            </a:r>
          </a:p>
        </p:txBody>
      </p:sp>
      <p:sp>
        <p:nvSpPr>
          <p:cNvPr id="9" name="Rectangle 8">
            <a:extLst>
              <a:ext uri="{FF2B5EF4-FFF2-40B4-BE49-F238E27FC236}">
                <a16:creationId xmlns:a16="http://schemas.microsoft.com/office/drawing/2014/main" xmlns="" id="{06EA0613-E945-E437-C733-F9F008F63B76}"/>
              </a:ext>
            </a:extLst>
          </p:cNvPr>
          <p:cNvSpPr/>
          <p:nvPr userDrawn="1"/>
        </p:nvSpPr>
        <p:spPr>
          <a:xfrm>
            <a:off x="16256402" y="2728308"/>
            <a:ext cx="1235879" cy="1235878"/>
          </a:xfrm>
          <a:prstGeom prst="rect">
            <a:avLst/>
          </a:prstGeom>
          <a:solidFill>
            <a:srgbClr val="08BDBA"/>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#08BDBA</a:t>
            </a:r>
          </a:p>
        </p:txBody>
      </p:sp>
      <p:sp>
        <p:nvSpPr>
          <p:cNvPr id="10" name="TextBox 9">
            <a:extLst>
              <a:ext uri="{FF2B5EF4-FFF2-40B4-BE49-F238E27FC236}">
                <a16:creationId xmlns:a16="http://schemas.microsoft.com/office/drawing/2014/main" xmlns="" id="{F0EC5687-C25A-A73E-5192-674F560F89FA}"/>
              </a:ext>
            </a:extLst>
          </p:cNvPr>
          <p:cNvSpPr txBox="1"/>
          <p:nvPr userDrawn="1"/>
        </p:nvSpPr>
        <p:spPr>
          <a:xfrm>
            <a:off x="12602453" y="3912427"/>
            <a:ext cx="1237839" cy="369332"/>
          </a:xfrm>
          <a:prstGeom prst="rect">
            <a:avLst/>
          </a:prstGeom>
          <a:noFill/>
        </p:spPr>
        <p:txBody>
          <a:bodyPr wrap="none" rtlCol="0">
            <a:spAutoFit/>
          </a:bodyPr>
          <a:lstStyle/>
          <a:p>
            <a:r>
              <a:rPr lang="en-US" b="1" i="0" dirty="0">
                <a:solidFill>
                  <a:srgbClr val="FFFFFF"/>
                </a:solidFill>
                <a:effectLst/>
              </a:rPr>
              <a:t>Purple 40</a:t>
            </a:r>
            <a:endParaRPr lang="en-US" b="1" dirty="0">
              <a:solidFill>
                <a:srgbClr val="FFFFFF"/>
              </a:solidFill>
            </a:endParaRPr>
          </a:p>
        </p:txBody>
      </p:sp>
      <p:sp>
        <p:nvSpPr>
          <p:cNvPr id="13" name="TextBox 12">
            <a:extLst>
              <a:ext uri="{FF2B5EF4-FFF2-40B4-BE49-F238E27FC236}">
                <a16:creationId xmlns:a16="http://schemas.microsoft.com/office/drawing/2014/main" xmlns="" id="{C31F4021-33FE-506B-3C0D-688FEF669647}"/>
              </a:ext>
            </a:extLst>
          </p:cNvPr>
          <p:cNvSpPr txBox="1"/>
          <p:nvPr userDrawn="1"/>
        </p:nvSpPr>
        <p:spPr>
          <a:xfrm>
            <a:off x="14334144" y="3912427"/>
            <a:ext cx="1449436" cy="369332"/>
          </a:xfrm>
          <a:prstGeom prst="rect">
            <a:avLst/>
          </a:prstGeom>
          <a:noFill/>
        </p:spPr>
        <p:txBody>
          <a:bodyPr wrap="none" rtlCol="0">
            <a:spAutoFit/>
          </a:bodyPr>
          <a:lstStyle/>
          <a:p>
            <a:r>
              <a:rPr lang="en-US" b="1" dirty="0">
                <a:solidFill>
                  <a:srgbClr val="FFFFFF"/>
                </a:solidFill>
              </a:rPr>
              <a:t>Magenta</a:t>
            </a:r>
            <a:r>
              <a:rPr lang="en-US" b="1" i="0" dirty="0">
                <a:solidFill>
                  <a:srgbClr val="FFFFFF"/>
                </a:solidFill>
                <a:effectLst/>
              </a:rPr>
              <a:t> 40</a:t>
            </a:r>
            <a:endParaRPr lang="en-US" b="1" dirty="0">
              <a:solidFill>
                <a:srgbClr val="FFFFFF"/>
              </a:solidFill>
            </a:endParaRPr>
          </a:p>
        </p:txBody>
      </p:sp>
      <p:sp>
        <p:nvSpPr>
          <p:cNvPr id="14" name="TextBox 13">
            <a:extLst>
              <a:ext uri="{FF2B5EF4-FFF2-40B4-BE49-F238E27FC236}">
                <a16:creationId xmlns:a16="http://schemas.microsoft.com/office/drawing/2014/main" xmlns="" id="{586B112C-C780-5B47-83AA-D580E668C866}"/>
              </a:ext>
            </a:extLst>
          </p:cNvPr>
          <p:cNvSpPr txBox="1"/>
          <p:nvPr userDrawn="1"/>
        </p:nvSpPr>
        <p:spPr>
          <a:xfrm>
            <a:off x="16404771" y="3912427"/>
            <a:ext cx="966355" cy="369332"/>
          </a:xfrm>
          <a:prstGeom prst="rect">
            <a:avLst/>
          </a:prstGeom>
          <a:noFill/>
        </p:spPr>
        <p:txBody>
          <a:bodyPr wrap="none" rtlCol="0">
            <a:spAutoFit/>
          </a:bodyPr>
          <a:lstStyle/>
          <a:p>
            <a:r>
              <a:rPr lang="en-US" b="1" dirty="0">
                <a:solidFill>
                  <a:srgbClr val="FFFFFF"/>
                </a:solidFill>
              </a:rPr>
              <a:t>Teal</a:t>
            </a:r>
            <a:r>
              <a:rPr lang="en-US" b="1" i="0" dirty="0">
                <a:solidFill>
                  <a:srgbClr val="FFFFFF"/>
                </a:solidFill>
                <a:effectLst/>
              </a:rPr>
              <a:t> 40</a:t>
            </a:r>
            <a:endParaRPr lang="en-US" b="1" dirty="0">
              <a:solidFill>
                <a:srgbClr val="FFFFFF"/>
              </a:solidFill>
            </a:endParaRPr>
          </a:p>
        </p:txBody>
      </p:sp>
      <p:sp>
        <p:nvSpPr>
          <p:cNvPr id="15" name="TextBox 14">
            <a:extLst>
              <a:ext uri="{FF2B5EF4-FFF2-40B4-BE49-F238E27FC236}">
                <a16:creationId xmlns:a16="http://schemas.microsoft.com/office/drawing/2014/main" xmlns="" id="{D92FC597-9201-21C6-383D-67750826F14D}"/>
              </a:ext>
            </a:extLst>
          </p:cNvPr>
          <p:cNvSpPr txBox="1"/>
          <p:nvPr userDrawn="1"/>
        </p:nvSpPr>
        <p:spPr>
          <a:xfrm>
            <a:off x="18206642" y="3912427"/>
            <a:ext cx="1055097" cy="369332"/>
          </a:xfrm>
          <a:prstGeom prst="rect">
            <a:avLst/>
          </a:prstGeom>
          <a:noFill/>
        </p:spPr>
        <p:txBody>
          <a:bodyPr wrap="none" rtlCol="0">
            <a:spAutoFit/>
          </a:bodyPr>
          <a:lstStyle/>
          <a:p>
            <a:r>
              <a:rPr lang="en-US" b="1" dirty="0">
                <a:solidFill>
                  <a:srgbClr val="FFFFFF"/>
                </a:solidFill>
              </a:rPr>
              <a:t>Cyan</a:t>
            </a:r>
            <a:r>
              <a:rPr lang="en-US" b="1" i="0" dirty="0">
                <a:solidFill>
                  <a:srgbClr val="FFFFFF"/>
                </a:solidFill>
                <a:effectLst/>
              </a:rPr>
              <a:t> 40</a:t>
            </a:r>
            <a:endParaRPr lang="en-US" b="1" dirty="0">
              <a:solidFill>
                <a:srgbClr val="FFFFFF"/>
              </a:solidFill>
            </a:endParaRPr>
          </a:p>
        </p:txBody>
      </p:sp>
      <p:sp>
        <p:nvSpPr>
          <p:cNvPr id="16" name="Rectangle 15">
            <a:extLst>
              <a:ext uri="{FF2B5EF4-FFF2-40B4-BE49-F238E27FC236}">
                <a16:creationId xmlns:a16="http://schemas.microsoft.com/office/drawing/2014/main" xmlns="" id="{6B4A6D56-917B-72D3-81F7-A59A36FC4198}"/>
              </a:ext>
            </a:extLst>
          </p:cNvPr>
          <p:cNvSpPr/>
          <p:nvPr userDrawn="1"/>
        </p:nvSpPr>
        <p:spPr>
          <a:xfrm>
            <a:off x="12625444" y="4418033"/>
            <a:ext cx="1235879" cy="1235878"/>
          </a:xfrm>
          <a:prstGeom prst="rect">
            <a:avLst/>
          </a:prstGeom>
          <a:solidFill>
            <a:srgbClr val="8A3FFC"/>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latin typeface="IBM Plex Sans" panose="020B0503050203000203" pitchFamily="34" charset="0"/>
              </a:rPr>
              <a:t>#8A3FFC</a:t>
            </a:r>
          </a:p>
        </p:txBody>
      </p:sp>
      <p:sp>
        <p:nvSpPr>
          <p:cNvPr id="17" name="Rectangle 16">
            <a:extLst>
              <a:ext uri="{FF2B5EF4-FFF2-40B4-BE49-F238E27FC236}">
                <a16:creationId xmlns:a16="http://schemas.microsoft.com/office/drawing/2014/main" xmlns="" id="{49512372-0859-45E3-8DD7-AE730B4AFD19}"/>
              </a:ext>
            </a:extLst>
          </p:cNvPr>
          <p:cNvSpPr/>
          <p:nvPr userDrawn="1"/>
        </p:nvSpPr>
        <p:spPr>
          <a:xfrm>
            <a:off x="18071881" y="4418033"/>
            <a:ext cx="1235879" cy="1235878"/>
          </a:xfrm>
          <a:prstGeom prst="rect">
            <a:avLst/>
          </a:prstGeom>
          <a:solidFill>
            <a:srgbClr val="0072C3"/>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latin typeface="IBM Plex Sans" panose="020B0503050203000203" pitchFamily="34" charset="0"/>
              </a:rPr>
              <a:t>#0072C3</a:t>
            </a:r>
          </a:p>
        </p:txBody>
      </p:sp>
      <p:sp>
        <p:nvSpPr>
          <p:cNvPr id="18" name="Rectangle 17">
            <a:extLst>
              <a:ext uri="{FF2B5EF4-FFF2-40B4-BE49-F238E27FC236}">
                <a16:creationId xmlns:a16="http://schemas.microsoft.com/office/drawing/2014/main" xmlns="" id="{A4197D57-5F46-DB39-F81D-9205CC53189F}"/>
              </a:ext>
            </a:extLst>
          </p:cNvPr>
          <p:cNvSpPr/>
          <p:nvPr userDrawn="1"/>
        </p:nvSpPr>
        <p:spPr>
          <a:xfrm>
            <a:off x="14440923" y="4418033"/>
            <a:ext cx="1235879" cy="1235878"/>
          </a:xfrm>
          <a:prstGeom prst="rect">
            <a:avLst/>
          </a:prstGeom>
          <a:solidFill>
            <a:srgbClr val="D02670"/>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latin typeface="IBM Plex Sans" panose="020B0503050203000203" pitchFamily="34" charset="0"/>
              </a:rPr>
              <a:t>#D02670</a:t>
            </a:r>
          </a:p>
        </p:txBody>
      </p:sp>
      <p:sp>
        <p:nvSpPr>
          <p:cNvPr id="19" name="Rectangle 18">
            <a:extLst>
              <a:ext uri="{FF2B5EF4-FFF2-40B4-BE49-F238E27FC236}">
                <a16:creationId xmlns:a16="http://schemas.microsoft.com/office/drawing/2014/main" xmlns="" id="{570AA9B1-D6E7-98E2-49EF-C98B6F0E7E2F}"/>
              </a:ext>
            </a:extLst>
          </p:cNvPr>
          <p:cNvSpPr/>
          <p:nvPr userDrawn="1"/>
        </p:nvSpPr>
        <p:spPr>
          <a:xfrm>
            <a:off x="16256402" y="4418033"/>
            <a:ext cx="1235879" cy="1235878"/>
          </a:xfrm>
          <a:prstGeom prst="rect">
            <a:avLst/>
          </a:prstGeom>
          <a:solidFill>
            <a:srgbClr val="007D79"/>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latin typeface="IBM Plex Sans" panose="020B0503050203000203" pitchFamily="34" charset="0"/>
              </a:rPr>
              <a:t>#007D79</a:t>
            </a:r>
          </a:p>
        </p:txBody>
      </p:sp>
      <p:sp>
        <p:nvSpPr>
          <p:cNvPr id="20" name="TextBox 19">
            <a:extLst>
              <a:ext uri="{FF2B5EF4-FFF2-40B4-BE49-F238E27FC236}">
                <a16:creationId xmlns:a16="http://schemas.microsoft.com/office/drawing/2014/main" xmlns="" id="{B0A9DFA7-88D2-04F7-451C-7A2C388B178F}"/>
              </a:ext>
            </a:extLst>
          </p:cNvPr>
          <p:cNvSpPr txBox="1"/>
          <p:nvPr userDrawn="1"/>
        </p:nvSpPr>
        <p:spPr>
          <a:xfrm>
            <a:off x="12602453" y="5602152"/>
            <a:ext cx="1237839" cy="369332"/>
          </a:xfrm>
          <a:prstGeom prst="rect">
            <a:avLst/>
          </a:prstGeom>
          <a:noFill/>
        </p:spPr>
        <p:txBody>
          <a:bodyPr wrap="none" rtlCol="0">
            <a:spAutoFit/>
          </a:bodyPr>
          <a:lstStyle/>
          <a:p>
            <a:r>
              <a:rPr lang="en-US" b="1" i="0" dirty="0">
                <a:solidFill>
                  <a:srgbClr val="FFFFFF"/>
                </a:solidFill>
                <a:effectLst/>
              </a:rPr>
              <a:t>Purple 60</a:t>
            </a:r>
            <a:endParaRPr lang="en-US" b="1" dirty="0">
              <a:solidFill>
                <a:srgbClr val="FFFFFF"/>
              </a:solidFill>
            </a:endParaRPr>
          </a:p>
        </p:txBody>
      </p:sp>
      <p:sp>
        <p:nvSpPr>
          <p:cNvPr id="21" name="TextBox 20">
            <a:extLst>
              <a:ext uri="{FF2B5EF4-FFF2-40B4-BE49-F238E27FC236}">
                <a16:creationId xmlns:a16="http://schemas.microsoft.com/office/drawing/2014/main" xmlns="" id="{92C98F8E-1DCD-3647-3613-DFFC7CDFF372}"/>
              </a:ext>
            </a:extLst>
          </p:cNvPr>
          <p:cNvSpPr txBox="1"/>
          <p:nvPr userDrawn="1"/>
        </p:nvSpPr>
        <p:spPr>
          <a:xfrm>
            <a:off x="14334144" y="5602152"/>
            <a:ext cx="1448025" cy="369332"/>
          </a:xfrm>
          <a:prstGeom prst="rect">
            <a:avLst/>
          </a:prstGeom>
          <a:noFill/>
        </p:spPr>
        <p:txBody>
          <a:bodyPr wrap="none" rtlCol="0">
            <a:spAutoFit/>
          </a:bodyPr>
          <a:lstStyle/>
          <a:p>
            <a:r>
              <a:rPr lang="en-US" b="1" dirty="0">
                <a:solidFill>
                  <a:srgbClr val="FFFFFF"/>
                </a:solidFill>
              </a:rPr>
              <a:t>Magenta</a:t>
            </a:r>
            <a:r>
              <a:rPr lang="en-US" b="1" i="0" dirty="0">
                <a:solidFill>
                  <a:srgbClr val="FFFFFF"/>
                </a:solidFill>
                <a:effectLst/>
              </a:rPr>
              <a:t> 60</a:t>
            </a:r>
            <a:endParaRPr lang="en-US" b="1" dirty="0">
              <a:solidFill>
                <a:srgbClr val="FFFFFF"/>
              </a:solidFill>
            </a:endParaRPr>
          </a:p>
        </p:txBody>
      </p:sp>
      <p:sp>
        <p:nvSpPr>
          <p:cNvPr id="22" name="TextBox 21">
            <a:extLst>
              <a:ext uri="{FF2B5EF4-FFF2-40B4-BE49-F238E27FC236}">
                <a16:creationId xmlns:a16="http://schemas.microsoft.com/office/drawing/2014/main" xmlns="" id="{129F1073-373D-249D-C1F2-A527EB0210C9}"/>
              </a:ext>
            </a:extLst>
          </p:cNvPr>
          <p:cNvSpPr txBox="1"/>
          <p:nvPr userDrawn="1"/>
        </p:nvSpPr>
        <p:spPr>
          <a:xfrm>
            <a:off x="16404771" y="5602152"/>
            <a:ext cx="966931" cy="369332"/>
          </a:xfrm>
          <a:prstGeom prst="rect">
            <a:avLst/>
          </a:prstGeom>
          <a:noFill/>
        </p:spPr>
        <p:txBody>
          <a:bodyPr wrap="none" rtlCol="0">
            <a:spAutoFit/>
          </a:bodyPr>
          <a:lstStyle/>
          <a:p>
            <a:r>
              <a:rPr lang="en-US" b="1" dirty="0">
                <a:solidFill>
                  <a:srgbClr val="FFFFFF"/>
                </a:solidFill>
              </a:rPr>
              <a:t>Teal</a:t>
            </a:r>
            <a:r>
              <a:rPr lang="en-US" b="1" i="0" dirty="0">
                <a:solidFill>
                  <a:srgbClr val="FFFFFF"/>
                </a:solidFill>
                <a:effectLst/>
              </a:rPr>
              <a:t> 60</a:t>
            </a:r>
            <a:endParaRPr lang="en-US" b="1" dirty="0">
              <a:solidFill>
                <a:srgbClr val="FFFFFF"/>
              </a:solidFill>
            </a:endParaRPr>
          </a:p>
        </p:txBody>
      </p:sp>
      <p:sp>
        <p:nvSpPr>
          <p:cNvPr id="23" name="TextBox 22">
            <a:extLst>
              <a:ext uri="{FF2B5EF4-FFF2-40B4-BE49-F238E27FC236}">
                <a16:creationId xmlns:a16="http://schemas.microsoft.com/office/drawing/2014/main" xmlns="" id="{0D12B31A-8903-A616-B756-B8695FC8F38A}"/>
              </a:ext>
            </a:extLst>
          </p:cNvPr>
          <p:cNvSpPr txBox="1"/>
          <p:nvPr userDrawn="1"/>
        </p:nvSpPr>
        <p:spPr>
          <a:xfrm>
            <a:off x="18206642" y="5602152"/>
            <a:ext cx="1055097" cy="369332"/>
          </a:xfrm>
          <a:prstGeom prst="rect">
            <a:avLst/>
          </a:prstGeom>
          <a:noFill/>
        </p:spPr>
        <p:txBody>
          <a:bodyPr wrap="none" rtlCol="0">
            <a:spAutoFit/>
          </a:bodyPr>
          <a:lstStyle/>
          <a:p>
            <a:r>
              <a:rPr lang="en-US" b="1" dirty="0">
                <a:solidFill>
                  <a:srgbClr val="FFFFFF"/>
                </a:solidFill>
              </a:rPr>
              <a:t>Cyan</a:t>
            </a:r>
            <a:r>
              <a:rPr lang="en-US" b="1" i="0" dirty="0">
                <a:solidFill>
                  <a:srgbClr val="FFFFFF"/>
                </a:solidFill>
                <a:effectLst/>
              </a:rPr>
              <a:t> 60</a:t>
            </a:r>
            <a:endParaRPr lang="en-US" b="1" dirty="0">
              <a:solidFill>
                <a:srgbClr val="FFFFFF"/>
              </a:solidFill>
            </a:endParaRPr>
          </a:p>
        </p:txBody>
      </p:sp>
      <p:sp>
        <p:nvSpPr>
          <p:cNvPr id="24" name="Rectangle 23">
            <a:extLst>
              <a:ext uri="{FF2B5EF4-FFF2-40B4-BE49-F238E27FC236}">
                <a16:creationId xmlns:a16="http://schemas.microsoft.com/office/drawing/2014/main" xmlns="" id="{61892CDF-E500-AD18-C0DB-5405AF35ADE4}"/>
              </a:ext>
            </a:extLst>
          </p:cNvPr>
          <p:cNvSpPr/>
          <p:nvPr userDrawn="1"/>
        </p:nvSpPr>
        <p:spPr>
          <a:xfrm>
            <a:off x="19512379" y="2712316"/>
            <a:ext cx="1267863" cy="1267862"/>
          </a:xfrm>
          <a:prstGeom prst="rect">
            <a:avLst/>
          </a:prstGeom>
          <a:solidFill>
            <a:srgbClr val="121619"/>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bg2"/>
                </a:solidFill>
                <a:latin typeface="IBM Plex Sans" panose="020B0503050203000203" pitchFamily="34" charset="0"/>
              </a:rPr>
              <a:t>Icon</a:t>
            </a:r>
          </a:p>
          <a:p>
            <a:pPr algn="ctr"/>
            <a:r>
              <a:rPr lang="en-US" dirty="0">
                <a:solidFill>
                  <a:schemeClr val="bg2"/>
                </a:solidFill>
                <a:latin typeface="IBM Plex Sans" panose="020B0503050203000203" pitchFamily="34" charset="0"/>
              </a:rPr>
              <a:t>#</a:t>
            </a:r>
            <a:r>
              <a:rPr lang="en-US" b="0" i="0" dirty="0">
                <a:solidFill>
                  <a:srgbClr val="FFFFFF"/>
                </a:solidFill>
                <a:effectLst/>
                <a:latin typeface="IBM Plex Mono" panose="020B0509050203000203" pitchFamily="49" charset="0"/>
              </a:rPr>
              <a:t>000000</a:t>
            </a:r>
            <a:endParaRPr lang="en-US" dirty="0">
              <a:solidFill>
                <a:schemeClr val="bg2"/>
              </a:solidFill>
              <a:latin typeface="IBM Plex Sans" panose="020B0503050203000203" pitchFamily="34" charset="0"/>
            </a:endParaRPr>
          </a:p>
        </p:txBody>
      </p:sp>
      <p:sp>
        <p:nvSpPr>
          <p:cNvPr id="25" name="Rectangle 24">
            <a:extLst>
              <a:ext uri="{FF2B5EF4-FFF2-40B4-BE49-F238E27FC236}">
                <a16:creationId xmlns:a16="http://schemas.microsoft.com/office/drawing/2014/main" xmlns="" id="{FACF072D-B1FC-4829-B71E-556F57965D46}"/>
              </a:ext>
            </a:extLst>
          </p:cNvPr>
          <p:cNvSpPr/>
          <p:nvPr userDrawn="1"/>
        </p:nvSpPr>
        <p:spPr>
          <a:xfrm>
            <a:off x="19510690" y="4403963"/>
            <a:ext cx="1264019" cy="1264018"/>
          </a:xfrm>
          <a:prstGeom prst="rect">
            <a:avLst/>
          </a:prstGeom>
          <a:solidFill>
            <a:srgbClr val="FFFF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rgbClr val="262626"/>
                </a:solidFill>
                <a:latin typeface="IBM Plex Sans" panose="020B0503050203000203" pitchFamily="34" charset="0"/>
              </a:rPr>
              <a:t>Icon</a:t>
            </a:r>
          </a:p>
          <a:p>
            <a:pPr algn="ctr"/>
            <a:r>
              <a:rPr lang="en-US" dirty="0">
                <a:solidFill>
                  <a:srgbClr val="262626"/>
                </a:solidFill>
                <a:latin typeface="IBM Plex Sans" panose="020B0503050203000203" pitchFamily="34" charset="0"/>
              </a:rPr>
              <a:t>#</a:t>
            </a:r>
            <a:r>
              <a:rPr lang="en-US" b="0" i="0" dirty="0">
                <a:solidFill>
                  <a:srgbClr val="262626"/>
                </a:solidFill>
                <a:effectLst/>
                <a:latin typeface="IBM Plex Mono" panose="020B0509050203000203" pitchFamily="49" charset="0"/>
              </a:rPr>
              <a:t>FFFFFF</a:t>
            </a:r>
            <a:endParaRPr lang="en-US" dirty="0">
              <a:solidFill>
                <a:srgbClr val="262626"/>
              </a:solidFill>
              <a:latin typeface="IBM Plex Sans" panose="020B0503050203000203" pitchFamily="34" charset="0"/>
            </a:endParaRPr>
          </a:p>
        </p:txBody>
      </p:sp>
      <p:sp>
        <p:nvSpPr>
          <p:cNvPr id="26" name="Rectangle 25">
            <a:extLst>
              <a:ext uri="{FF2B5EF4-FFF2-40B4-BE49-F238E27FC236}">
                <a16:creationId xmlns:a16="http://schemas.microsoft.com/office/drawing/2014/main" xmlns="" id="{398BBA60-CCFF-F95A-ECC9-46204EA2214B}"/>
              </a:ext>
            </a:extLst>
          </p:cNvPr>
          <p:cNvSpPr/>
          <p:nvPr userDrawn="1"/>
        </p:nvSpPr>
        <p:spPr>
          <a:xfrm>
            <a:off x="12625444" y="1072749"/>
            <a:ext cx="1235879" cy="1235878"/>
          </a:xfrm>
          <a:prstGeom prst="rect">
            <a:avLst/>
          </a:prstGeom>
          <a:solidFill>
            <a:srgbClr val="F6F2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#F6F2FF</a:t>
            </a:r>
          </a:p>
        </p:txBody>
      </p:sp>
      <p:sp>
        <p:nvSpPr>
          <p:cNvPr id="27" name="Rectangle 26">
            <a:extLst>
              <a:ext uri="{FF2B5EF4-FFF2-40B4-BE49-F238E27FC236}">
                <a16:creationId xmlns:a16="http://schemas.microsoft.com/office/drawing/2014/main" xmlns="" id="{63F05CFF-A449-FBB3-5F13-F7A72C2E43DE}"/>
              </a:ext>
            </a:extLst>
          </p:cNvPr>
          <p:cNvSpPr/>
          <p:nvPr userDrawn="1"/>
        </p:nvSpPr>
        <p:spPr>
          <a:xfrm>
            <a:off x="18071881" y="1072749"/>
            <a:ext cx="1235879" cy="1235878"/>
          </a:xfrm>
          <a:prstGeom prst="rect">
            <a:avLst/>
          </a:prstGeom>
          <a:solidFill>
            <a:srgbClr val="E5F6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#E5F6FF</a:t>
            </a:r>
          </a:p>
        </p:txBody>
      </p:sp>
      <p:sp>
        <p:nvSpPr>
          <p:cNvPr id="28" name="Rectangle 27">
            <a:extLst>
              <a:ext uri="{FF2B5EF4-FFF2-40B4-BE49-F238E27FC236}">
                <a16:creationId xmlns:a16="http://schemas.microsoft.com/office/drawing/2014/main" xmlns="" id="{A4895BC4-B52A-2D00-62C1-71A44604BBB4}"/>
              </a:ext>
            </a:extLst>
          </p:cNvPr>
          <p:cNvSpPr/>
          <p:nvPr userDrawn="1"/>
        </p:nvSpPr>
        <p:spPr>
          <a:xfrm>
            <a:off x="14440923" y="1072749"/>
            <a:ext cx="1235879" cy="1235878"/>
          </a:xfrm>
          <a:prstGeom prst="rect">
            <a:avLst/>
          </a:prstGeom>
          <a:solidFill>
            <a:srgbClr val="FFF0F7"/>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#FFF0F7</a:t>
            </a:r>
          </a:p>
        </p:txBody>
      </p:sp>
      <p:sp>
        <p:nvSpPr>
          <p:cNvPr id="29" name="Rectangle 28">
            <a:extLst>
              <a:ext uri="{FF2B5EF4-FFF2-40B4-BE49-F238E27FC236}">
                <a16:creationId xmlns:a16="http://schemas.microsoft.com/office/drawing/2014/main" xmlns="" id="{F5B5B6C5-97CB-45FD-FDEC-1F5C2A0BDC3E}"/>
              </a:ext>
            </a:extLst>
          </p:cNvPr>
          <p:cNvSpPr/>
          <p:nvPr userDrawn="1"/>
        </p:nvSpPr>
        <p:spPr>
          <a:xfrm>
            <a:off x="16256402" y="1072749"/>
            <a:ext cx="1235879" cy="1235878"/>
          </a:xfrm>
          <a:prstGeom prst="rect">
            <a:avLst/>
          </a:prstGeom>
          <a:solidFill>
            <a:srgbClr val="D9FBFB"/>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#D9FBFB</a:t>
            </a:r>
          </a:p>
        </p:txBody>
      </p:sp>
      <p:sp>
        <p:nvSpPr>
          <p:cNvPr id="30" name="TextBox 29">
            <a:extLst>
              <a:ext uri="{FF2B5EF4-FFF2-40B4-BE49-F238E27FC236}">
                <a16:creationId xmlns:a16="http://schemas.microsoft.com/office/drawing/2014/main" xmlns="" id="{94DCC439-D448-E0FC-26EF-94C7A8B8D0DB}"/>
              </a:ext>
            </a:extLst>
          </p:cNvPr>
          <p:cNvSpPr txBox="1"/>
          <p:nvPr userDrawn="1"/>
        </p:nvSpPr>
        <p:spPr>
          <a:xfrm>
            <a:off x="12602453" y="2256868"/>
            <a:ext cx="1237839" cy="369332"/>
          </a:xfrm>
          <a:prstGeom prst="rect">
            <a:avLst/>
          </a:prstGeom>
          <a:noFill/>
        </p:spPr>
        <p:txBody>
          <a:bodyPr wrap="none" rtlCol="0">
            <a:spAutoFit/>
          </a:bodyPr>
          <a:lstStyle/>
          <a:p>
            <a:r>
              <a:rPr lang="en-US" b="1" i="0" dirty="0">
                <a:solidFill>
                  <a:srgbClr val="FFFFFF"/>
                </a:solidFill>
                <a:effectLst/>
              </a:rPr>
              <a:t>Purple 10</a:t>
            </a:r>
            <a:endParaRPr lang="en-US" b="1" dirty="0">
              <a:solidFill>
                <a:srgbClr val="FFFFFF"/>
              </a:solidFill>
            </a:endParaRPr>
          </a:p>
        </p:txBody>
      </p:sp>
      <p:sp>
        <p:nvSpPr>
          <p:cNvPr id="31" name="TextBox 30">
            <a:extLst>
              <a:ext uri="{FF2B5EF4-FFF2-40B4-BE49-F238E27FC236}">
                <a16:creationId xmlns:a16="http://schemas.microsoft.com/office/drawing/2014/main" xmlns="" id="{004B7B48-2E66-50BA-96FE-D24C4E60BFD7}"/>
              </a:ext>
            </a:extLst>
          </p:cNvPr>
          <p:cNvSpPr txBox="1"/>
          <p:nvPr userDrawn="1"/>
        </p:nvSpPr>
        <p:spPr>
          <a:xfrm>
            <a:off x="14334144" y="2256868"/>
            <a:ext cx="1449436" cy="369332"/>
          </a:xfrm>
          <a:prstGeom prst="rect">
            <a:avLst/>
          </a:prstGeom>
          <a:noFill/>
        </p:spPr>
        <p:txBody>
          <a:bodyPr wrap="none" rtlCol="0">
            <a:spAutoFit/>
          </a:bodyPr>
          <a:lstStyle/>
          <a:p>
            <a:r>
              <a:rPr lang="en-US" b="1" dirty="0">
                <a:solidFill>
                  <a:srgbClr val="FFFFFF"/>
                </a:solidFill>
              </a:rPr>
              <a:t>Magenta</a:t>
            </a:r>
            <a:r>
              <a:rPr lang="en-US" b="1" i="0" dirty="0">
                <a:solidFill>
                  <a:srgbClr val="FFFFFF"/>
                </a:solidFill>
                <a:effectLst/>
              </a:rPr>
              <a:t> 10</a:t>
            </a:r>
            <a:endParaRPr lang="en-US" b="1" dirty="0">
              <a:solidFill>
                <a:srgbClr val="FFFFFF"/>
              </a:solidFill>
            </a:endParaRPr>
          </a:p>
        </p:txBody>
      </p:sp>
      <p:sp>
        <p:nvSpPr>
          <p:cNvPr id="32" name="TextBox 31">
            <a:extLst>
              <a:ext uri="{FF2B5EF4-FFF2-40B4-BE49-F238E27FC236}">
                <a16:creationId xmlns:a16="http://schemas.microsoft.com/office/drawing/2014/main" xmlns="" id="{07C767BF-EB72-86A2-DBA6-0D26C6C02894}"/>
              </a:ext>
            </a:extLst>
          </p:cNvPr>
          <p:cNvSpPr txBox="1"/>
          <p:nvPr userDrawn="1"/>
        </p:nvSpPr>
        <p:spPr>
          <a:xfrm>
            <a:off x="16404771" y="2256868"/>
            <a:ext cx="966355" cy="369332"/>
          </a:xfrm>
          <a:prstGeom prst="rect">
            <a:avLst/>
          </a:prstGeom>
          <a:noFill/>
        </p:spPr>
        <p:txBody>
          <a:bodyPr wrap="none" rtlCol="0">
            <a:spAutoFit/>
          </a:bodyPr>
          <a:lstStyle/>
          <a:p>
            <a:r>
              <a:rPr lang="en-US" b="1" dirty="0">
                <a:solidFill>
                  <a:srgbClr val="FFFFFF"/>
                </a:solidFill>
              </a:rPr>
              <a:t>Teal</a:t>
            </a:r>
            <a:r>
              <a:rPr lang="en-US" b="1" i="0" dirty="0">
                <a:solidFill>
                  <a:srgbClr val="FFFFFF"/>
                </a:solidFill>
                <a:effectLst/>
              </a:rPr>
              <a:t> 10</a:t>
            </a:r>
            <a:endParaRPr lang="en-US" b="1" dirty="0">
              <a:solidFill>
                <a:srgbClr val="FFFFFF"/>
              </a:solidFill>
            </a:endParaRPr>
          </a:p>
        </p:txBody>
      </p:sp>
      <p:sp>
        <p:nvSpPr>
          <p:cNvPr id="33" name="TextBox 32">
            <a:extLst>
              <a:ext uri="{FF2B5EF4-FFF2-40B4-BE49-F238E27FC236}">
                <a16:creationId xmlns:a16="http://schemas.microsoft.com/office/drawing/2014/main" xmlns="" id="{BFEDF829-6CB0-F03B-E025-85D510B4DC26}"/>
              </a:ext>
            </a:extLst>
          </p:cNvPr>
          <p:cNvSpPr txBox="1"/>
          <p:nvPr userDrawn="1"/>
        </p:nvSpPr>
        <p:spPr>
          <a:xfrm>
            <a:off x="18206642" y="2256868"/>
            <a:ext cx="1055097" cy="369332"/>
          </a:xfrm>
          <a:prstGeom prst="rect">
            <a:avLst/>
          </a:prstGeom>
          <a:noFill/>
        </p:spPr>
        <p:txBody>
          <a:bodyPr wrap="none" rtlCol="0">
            <a:spAutoFit/>
          </a:bodyPr>
          <a:lstStyle/>
          <a:p>
            <a:r>
              <a:rPr lang="en-US" b="1" dirty="0">
                <a:solidFill>
                  <a:srgbClr val="FFFFFF"/>
                </a:solidFill>
              </a:rPr>
              <a:t>Cyan</a:t>
            </a:r>
            <a:r>
              <a:rPr lang="en-US" b="1" i="0" dirty="0">
                <a:solidFill>
                  <a:srgbClr val="FFFFFF"/>
                </a:solidFill>
                <a:effectLst/>
              </a:rPr>
              <a:t> 10</a:t>
            </a:r>
            <a:endParaRPr lang="en-US" b="1" dirty="0">
              <a:solidFill>
                <a:srgbClr val="FFFFFF"/>
              </a:solidFill>
            </a:endParaRPr>
          </a:p>
        </p:txBody>
      </p:sp>
      <p:sp>
        <p:nvSpPr>
          <p:cNvPr id="34" name="Rectangle 33">
            <a:extLst>
              <a:ext uri="{FF2B5EF4-FFF2-40B4-BE49-F238E27FC236}">
                <a16:creationId xmlns:a16="http://schemas.microsoft.com/office/drawing/2014/main" xmlns="" id="{7FF97BF5-A64D-02F2-4B04-BC95CE39DF3F}"/>
              </a:ext>
            </a:extLst>
          </p:cNvPr>
          <p:cNvSpPr/>
          <p:nvPr userDrawn="1"/>
        </p:nvSpPr>
        <p:spPr>
          <a:xfrm>
            <a:off x="16222135" y="-2341897"/>
            <a:ext cx="1267863" cy="1267862"/>
          </a:xfrm>
          <a:prstGeom prst="rect">
            <a:avLst/>
          </a:prstGeom>
          <a:solidFill>
            <a:srgbClr val="C1C7CD"/>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p>
          <a:p>
            <a:pPr algn="ctr"/>
            <a:r>
              <a:rPr lang="en-US" dirty="0">
                <a:solidFill>
                  <a:schemeClr val="tx1"/>
                </a:solidFill>
                <a:latin typeface="IBM Plex Sans" panose="020B0503050203000203" pitchFamily="34" charset="0"/>
              </a:rPr>
              <a:t>#C1C7CD</a:t>
            </a:r>
          </a:p>
        </p:txBody>
      </p:sp>
      <p:sp>
        <p:nvSpPr>
          <p:cNvPr id="37" name="Rectangle 36">
            <a:extLst>
              <a:ext uri="{FF2B5EF4-FFF2-40B4-BE49-F238E27FC236}">
                <a16:creationId xmlns:a16="http://schemas.microsoft.com/office/drawing/2014/main" xmlns="" id="{63738F9B-27C5-3C49-8FD7-0731EE9AC3BF}"/>
              </a:ext>
            </a:extLst>
          </p:cNvPr>
          <p:cNvSpPr/>
          <p:nvPr userDrawn="1"/>
        </p:nvSpPr>
        <p:spPr>
          <a:xfrm>
            <a:off x="16222135" y="-801901"/>
            <a:ext cx="1267863" cy="1267862"/>
          </a:xfrm>
          <a:prstGeom prst="rect">
            <a:avLst/>
          </a:prstGeom>
          <a:solidFill>
            <a:srgbClr val="F2F4F8"/>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p>
          <a:p>
            <a:pPr algn="ctr"/>
            <a:r>
              <a:rPr lang="en-US" dirty="0">
                <a:solidFill>
                  <a:schemeClr val="tx1"/>
                </a:solidFill>
                <a:latin typeface="IBM Plex Sans" panose="020B0503050203000203" pitchFamily="34" charset="0"/>
              </a:rPr>
              <a:t>#F2F4F8</a:t>
            </a:r>
          </a:p>
        </p:txBody>
      </p:sp>
      <p:sp>
        <p:nvSpPr>
          <p:cNvPr id="38" name="Rectangle 37">
            <a:extLst>
              <a:ext uri="{FF2B5EF4-FFF2-40B4-BE49-F238E27FC236}">
                <a16:creationId xmlns:a16="http://schemas.microsoft.com/office/drawing/2014/main" xmlns="" id="{A7194F16-D83C-3057-9151-A884EA8F0931}"/>
              </a:ext>
            </a:extLst>
          </p:cNvPr>
          <p:cNvSpPr/>
          <p:nvPr userDrawn="1"/>
        </p:nvSpPr>
        <p:spPr>
          <a:xfrm>
            <a:off x="14397282" y="-2352139"/>
            <a:ext cx="1267863" cy="1267862"/>
          </a:xfrm>
          <a:prstGeom prst="rect">
            <a:avLst/>
          </a:prstGeom>
          <a:solidFill>
            <a:srgbClr val="BE95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p>
          <a:p>
            <a:pPr algn="ctr"/>
            <a:r>
              <a:rPr lang="en-US" dirty="0">
                <a:solidFill>
                  <a:schemeClr val="tx1"/>
                </a:solidFill>
                <a:latin typeface="IBM Plex Sans" panose="020B0503050203000203" pitchFamily="34" charset="0"/>
              </a:rPr>
              <a:t>#BE95FF</a:t>
            </a:r>
          </a:p>
        </p:txBody>
      </p:sp>
      <p:sp>
        <p:nvSpPr>
          <p:cNvPr id="39" name="Rectangle 38">
            <a:extLst>
              <a:ext uri="{FF2B5EF4-FFF2-40B4-BE49-F238E27FC236}">
                <a16:creationId xmlns:a16="http://schemas.microsoft.com/office/drawing/2014/main" xmlns="" id="{80C7A661-0FF9-B849-2771-84AA24CF5EFF}"/>
              </a:ext>
            </a:extLst>
          </p:cNvPr>
          <p:cNvSpPr/>
          <p:nvPr userDrawn="1"/>
        </p:nvSpPr>
        <p:spPr>
          <a:xfrm>
            <a:off x="14397282" y="-812143"/>
            <a:ext cx="1267863" cy="1267862"/>
          </a:xfrm>
          <a:prstGeom prst="rect">
            <a:avLst/>
          </a:prstGeom>
          <a:solidFill>
            <a:srgbClr val="33B1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p>
          <a:p>
            <a:pPr algn="ctr"/>
            <a:r>
              <a:rPr lang="en-US" dirty="0">
                <a:solidFill>
                  <a:schemeClr val="tx1"/>
                </a:solidFill>
                <a:latin typeface="IBM Plex Sans" panose="020B0503050203000203" pitchFamily="34" charset="0"/>
              </a:rPr>
              <a:t>#33B1FF</a:t>
            </a:r>
          </a:p>
        </p:txBody>
      </p:sp>
      <p:sp>
        <p:nvSpPr>
          <p:cNvPr id="42" name="Rectangle 41">
            <a:extLst>
              <a:ext uri="{FF2B5EF4-FFF2-40B4-BE49-F238E27FC236}">
                <a16:creationId xmlns:a16="http://schemas.microsoft.com/office/drawing/2014/main" xmlns="" id="{784675A9-3F9A-460D-D8D6-C5D9516859D4}"/>
              </a:ext>
            </a:extLst>
          </p:cNvPr>
          <p:cNvSpPr/>
          <p:nvPr userDrawn="1"/>
        </p:nvSpPr>
        <p:spPr>
          <a:xfrm>
            <a:off x="12572429" y="-2309174"/>
            <a:ext cx="1267863" cy="1267862"/>
          </a:xfrm>
          <a:prstGeom prst="rect">
            <a:avLst/>
          </a:prstGeom>
          <a:solidFill>
            <a:srgbClr val="08BDBA"/>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p>
          <a:p>
            <a:pPr algn="ctr"/>
            <a:r>
              <a:rPr lang="en-US" dirty="0">
                <a:solidFill>
                  <a:schemeClr val="tx1"/>
                </a:solidFill>
                <a:latin typeface="IBM Plex Sans" panose="020B0503050203000203" pitchFamily="34" charset="0"/>
              </a:rPr>
              <a:t>#08BDBA</a:t>
            </a:r>
          </a:p>
        </p:txBody>
      </p:sp>
      <p:sp>
        <p:nvSpPr>
          <p:cNvPr id="43" name="Rectangle 42">
            <a:extLst>
              <a:ext uri="{FF2B5EF4-FFF2-40B4-BE49-F238E27FC236}">
                <a16:creationId xmlns:a16="http://schemas.microsoft.com/office/drawing/2014/main" xmlns="" id="{FD8C7787-7D0E-ED5D-DB99-53C4B52AA8F2}"/>
              </a:ext>
            </a:extLst>
          </p:cNvPr>
          <p:cNvSpPr/>
          <p:nvPr userDrawn="1"/>
        </p:nvSpPr>
        <p:spPr>
          <a:xfrm>
            <a:off x="12572429" y="-769178"/>
            <a:ext cx="1267863" cy="1267862"/>
          </a:xfrm>
          <a:prstGeom prst="rect">
            <a:avLst/>
          </a:prstGeom>
          <a:solidFill>
            <a:srgbClr val="78A9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p>
          <a:p>
            <a:pPr algn="ctr"/>
            <a:r>
              <a:rPr lang="en-US" dirty="0">
                <a:solidFill>
                  <a:schemeClr val="tx1"/>
                </a:solidFill>
                <a:latin typeface="IBM Plex Sans" panose="020B0503050203000203" pitchFamily="34" charset="0"/>
              </a:rPr>
              <a:t>#78A9FF</a:t>
            </a:r>
          </a:p>
        </p:txBody>
      </p:sp>
      <p:sp>
        <p:nvSpPr>
          <p:cNvPr id="46" name="Rectangle 45">
            <a:extLst>
              <a:ext uri="{FF2B5EF4-FFF2-40B4-BE49-F238E27FC236}">
                <a16:creationId xmlns:a16="http://schemas.microsoft.com/office/drawing/2014/main" xmlns="" id="{20CCBF62-5F94-E366-51BD-6C8DCBF90955}"/>
              </a:ext>
            </a:extLst>
          </p:cNvPr>
          <p:cNvSpPr/>
          <p:nvPr userDrawn="1"/>
        </p:nvSpPr>
        <p:spPr>
          <a:xfrm>
            <a:off x="17993876" y="-2309174"/>
            <a:ext cx="1267863" cy="1267862"/>
          </a:xfrm>
          <a:prstGeom prst="rect">
            <a:avLst/>
          </a:prstGeom>
          <a:solidFill>
            <a:srgbClr val="525252"/>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bg2"/>
                </a:solidFill>
                <a:latin typeface="IBM Plex Sans" panose="020B0503050203000203" pitchFamily="34" charset="0"/>
              </a:rPr>
              <a:t>Labels</a:t>
            </a:r>
          </a:p>
          <a:p>
            <a:pPr algn="ctr"/>
            <a:r>
              <a:rPr lang="en-US" dirty="0">
                <a:solidFill>
                  <a:schemeClr val="bg2"/>
                </a:solidFill>
                <a:latin typeface="IBM Plex Sans" panose="020B0503050203000203" pitchFamily="34" charset="0"/>
              </a:rPr>
              <a:t>#525252</a:t>
            </a:r>
          </a:p>
        </p:txBody>
      </p:sp>
      <p:sp>
        <p:nvSpPr>
          <p:cNvPr id="47" name="Rectangle 46">
            <a:extLst>
              <a:ext uri="{FF2B5EF4-FFF2-40B4-BE49-F238E27FC236}">
                <a16:creationId xmlns:a16="http://schemas.microsoft.com/office/drawing/2014/main" xmlns="" id="{E5880850-0EBA-AD14-E6FD-BB1DC94F3DA5}"/>
              </a:ext>
            </a:extLst>
          </p:cNvPr>
          <p:cNvSpPr/>
          <p:nvPr userDrawn="1"/>
        </p:nvSpPr>
        <p:spPr>
          <a:xfrm>
            <a:off x="17993875" y="-812143"/>
            <a:ext cx="1267863" cy="1267862"/>
          </a:xfrm>
          <a:prstGeom prst="rect">
            <a:avLst/>
          </a:prstGeom>
          <a:solidFill>
            <a:srgbClr val="262626"/>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bg2"/>
                </a:solidFill>
                <a:latin typeface="IBM Plex Sans" panose="020B0503050203000203" pitchFamily="34" charset="0"/>
              </a:rPr>
              <a:t>Text</a:t>
            </a:r>
          </a:p>
          <a:p>
            <a:pPr algn="ctr"/>
            <a:r>
              <a:rPr lang="en-US" dirty="0">
                <a:solidFill>
                  <a:schemeClr val="bg2"/>
                </a:solidFill>
                <a:latin typeface="IBM Plex Sans" panose="020B0503050203000203" pitchFamily="34" charset="0"/>
              </a:rPr>
              <a:t>#262626</a:t>
            </a:r>
          </a:p>
        </p:txBody>
      </p:sp>
      <p:grpSp>
        <p:nvGrpSpPr>
          <p:cNvPr id="64" name="Group 63">
            <a:extLst>
              <a:ext uri="{FF2B5EF4-FFF2-40B4-BE49-F238E27FC236}">
                <a16:creationId xmlns:a16="http://schemas.microsoft.com/office/drawing/2014/main" xmlns="" id="{56209ACE-A4F7-EAC9-E98F-D141BE77F994}"/>
              </a:ext>
            </a:extLst>
          </p:cNvPr>
          <p:cNvGrpSpPr/>
          <p:nvPr userDrawn="1"/>
        </p:nvGrpSpPr>
        <p:grpSpPr>
          <a:xfrm>
            <a:off x="11094856" y="6244940"/>
            <a:ext cx="1098532" cy="613059"/>
            <a:chOff x="8965342" y="4231217"/>
            <a:chExt cx="1608171" cy="897474"/>
          </a:xfrm>
        </p:grpSpPr>
        <p:pic>
          <p:nvPicPr>
            <p:cNvPr id="60" name="Graphic 59">
              <a:extLst>
                <a:ext uri="{FF2B5EF4-FFF2-40B4-BE49-F238E27FC236}">
                  <a16:creationId xmlns:a16="http://schemas.microsoft.com/office/drawing/2014/main" xmlns="" id="{EFEE4105-67FB-F40B-E7BD-8C9B80C32F89}"/>
                </a:ext>
              </a:extLst>
            </p:cNvPr>
            <p:cNvPicPr>
              <a:picLocks noChangeAspect="1"/>
            </p:cNvPicPr>
            <p:nvPr userDrawn="1"/>
          </p:nvPicPr>
          <p:blipFill>
            <a:blip r:embed="rId11">
              <a:extLst>
                <a:ext uri="{96DAC541-7B7A-43D3-8B79-37D633B846F1}">
                  <asvg:svgBlip xmlns:asvg="http://schemas.microsoft.com/office/drawing/2016/SVG/main" xmlns="" r:embed="rId12"/>
                </a:ext>
              </a:extLst>
            </a:blip>
            <a:stretch>
              <a:fillRect/>
            </a:stretch>
          </p:blipFill>
          <p:spPr>
            <a:xfrm>
              <a:off x="9321121" y="4418033"/>
              <a:ext cx="897474" cy="355817"/>
            </a:xfrm>
            <a:prstGeom prst="rect">
              <a:avLst/>
            </a:prstGeom>
          </p:spPr>
        </p:pic>
        <p:pic>
          <p:nvPicPr>
            <p:cNvPr id="61" name="Graphic 60" hidden="1">
              <a:extLst>
                <a:ext uri="{FF2B5EF4-FFF2-40B4-BE49-F238E27FC236}">
                  <a16:creationId xmlns:a16="http://schemas.microsoft.com/office/drawing/2014/main" xmlns="" id="{9AB2407C-B3E2-DCDD-0692-DD32E3C45227}"/>
                </a:ext>
              </a:extLst>
            </p:cNvPr>
            <p:cNvPicPr>
              <a:picLocks noChangeAspect="1"/>
            </p:cNvPicPr>
            <p:nvPr userDrawn="1"/>
          </p:nvPicPr>
          <p:blipFill>
            <a:blip r:embed="rId13">
              <a:extLst>
                <a:ext uri="{96DAC541-7B7A-43D3-8B79-37D633B846F1}">
                  <asvg:svgBlip xmlns:asvg="http://schemas.microsoft.com/office/drawing/2016/SVG/main" xmlns="" r:embed="rId14"/>
                </a:ext>
              </a:extLst>
            </a:blip>
            <a:stretch>
              <a:fillRect/>
            </a:stretch>
          </p:blipFill>
          <p:spPr>
            <a:xfrm>
              <a:off x="9321121" y="4772874"/>
              <a:ext cx="897474" cy="355817"/>
            </a:xfrm>
            <a:prstGeom prst="rect">
              <a:avLst/>
            </a:prstGeom>
          </p:spPr>
        </p:pic>
        <p:pic>
          <p:nvPicPr>
            <p:cNvPr id="62" name="Graphic 61" hidden="1">
              <a:extLst>
                <a:ext uri="{FF2B5EF4-FFF2-40B4-BE49-F238E27FC236}">
                  <a16:creationId xmlns:a16="http://schemas.microsoft.com/office/drawing/2014/main" xmlns="" id="{9128FFA9-E729-6051-FE44-5C57854D2B9B}"/>
                </a:ext>
              </a:extLst>
            </p:cNvPr>
            <p:cNvPicPr>
              <a:picLocks noChangeAspect="1"/>
            </p:cNvPicPr>
            <p:nvPr userDrawn="1"/>
          </p:nvPicPr>
          <p:blipFill>
            <a:blip r:embed="rId13">
              <a:extLst>
                <a:ext uri="{96DAC541-7B7A-43D3-8B79-37D633B846F1}">
                  <asvg:svgBlip xmlns:asvg="http://schemas.microsoft.com/office/drawing/2016/SVG/main" xmlns="" r:embed="rId14"/>
                </a:ext>
              </a:extLst>
            </a:blip>
            <a:stretch>
              <a:fillRect/>
            </a:stretch>
          </p:blipFill>
          <p:spPr>
            <a:xfrm rot="16200000">
              <a:off x="9946868" y="4502045"/>
              <a:ext cx="897474" cy="355817"/>
            </a:xfrm>
            <a:prstGeom prst="rect">
              <a:avLst/>
            </a:prstGeom>
          </p:spPr>
        </p:pic>
        <p:pic>
          <p:nvPicPr>
            <p:cNvPr id="63" name="Graphic 62" hidden="1">
              <a:extLst>
                <a:ext uri="{FF2B5EF4-FFF2-40B4-BE49-F238E27FC236}">
                  <a16:creationId xmlns:a16="http://schemas.microsoft.com/office/drawing/2014/main" xmlns="" id="{21D1BE07-55D7-FEB6-D90F-FC214DFBDA4C}"/>
                </a:ext>
              </a:extLst>
            </p:cNvPr>
            <p:cNvPicPr>
              <a:picLocks noChangeAspect="1"/>
            </p:cNvPicPr>
            <p:nvPr userDrawn="1"/>
          </p:nvPicPr>
          <p:blipFill>
            <a:blip r:embed="rId13">
              <a:extLst>
                <a:ext uri="{96DAC541-7B7A-43D3-8B79-37D633B846F1}">
                  <asvg:svgBlip xmlns:asvg="http://schemas.microsoft.com/office/drawing/2016/SVG/main" xmlns="" r:embed="rId14"/>
                </a:ext>
              </a:extLst>
            </a:blip>
            <a:stretch>
              <a:fillRect/>
            </a:stretch>
          </p:blipFill>
          <p:spPr>
            <a:xfrm rot="16200000">
              <a:off x="8694514" y="4502045"/>
              <a:ext cx="897474" cy="355817"/>
            </a:xfrm>
            <a:prstGeom prst="rect">
              <a:avLst/>
            </a:prstGeom>
          </p:spPr>
        </p:pic>
      </p:grpSp>
      <p:pic>
        <p:nvPicPr>
          <p:cNvPr id="66" name="Graphic 65">
            <a:extLst>
              <a:ext uri="{FF2B5EF4-FFF2-40B4-BE49-F238E27FC236}">
                <a16:creationId xmlns:a16="http://schemas.microsoft.com/office/drawing/2014/main" xmlns="" id="{FD0E63E5-36ED-0A5F-F2A0-E31AD11555EA}"/>
              </a:ext>
            </a:extLst>
          </p:cNvPr>
          <p:cNvPicPr>
            <a:picLocks noChangeAspect="1"/>
          </p:cNvPicPr>
          <p:nvPr userDrawn="1"/>
        </p:nvPicPr>
        <p:blipFill>
          <a:blip r:embed="rId15">
            <a:extLst>
              <a:ext uri="{96DAC541-7B7A-43D3-8B79-37D633B846F1}">
                <asvg:svgBlip xmlns:asvg="http://schemas.microsoft.com/office/drawing/2016/SVG/main" xmlns="" r:embed="rId16"/>
              </a:ext>
            </a:extLst>
          </a:blip>
          <a:stretch>
            <a:fillRect/>
          </a:stretch>
        </p:blipFill>
        <p:spPr>
          <a:xfrm>
            <a:off x="241053" y="6372101"/>
            <a:ext cx="1630680" cy="247650"/>
          </a:xfrm>
          <a:prstGeom prst="rect">
            <a:avLst/>
          </a:prstGeom>
        </p:spPr>
      </p:pic>
      <p:sp>
        <p:nvSpPr>
          <p:cNvPr id="67" name="Rectangle 66" hidden="1">
            <a:extLst>
              <a:ext uri="{FF2B5EF4-FFF2-40B4-BE49-F238E27FC236}">
                <a16:creationId xmlns:a16="http://schemas.microsoft.com/office/drawing/2014/main" xmlns="" id="{04EE5960-43EB-4B14-0782-2876BE85A607}"/>
              </a:ext>
            </a:extLst>
          </p:cNvPr>
          <p:cNvSpPr/>
          <p:nvPr userDrawn="1"/>
        </p:nvSpPr>
        <p:spPr>
          <a:xfrm>
            <a:off x="-76201" y="6356350"/>
            <a:ext cx="12353925" cy="276797"/>
          </a:xfrm>
          <a:prstGeom prst="rect">
            <a:avLst/>
          </a:prstGeom>
          <a:noFill/>
          <a:ln w="28575">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8"/>
    </p:custDataLst>
    <p:extLst>
      <p:ext uri="{BB962C8B-B14F-4D97-AF65-F5344CB8AC3E}">
        <p14:creationId xmlns:p14="http://schemas.microsoft.com/office/powerpoint/2010/main" xmlns="" val="127044293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4" r:id="rId3"/>
    <p:sldLayoutId id="2147483666" r:id="rId4"/>
    <p:sldLayoutId id="2147483667" r:id="rId5"/>
    <p:sldLayoutId id="2147483673" r:id="rId6"/>
  </p:sldLayoutIdLst>
  <p:txStyles>
    <p:titleStyle>
      <a:lvl1pPr algn="l" defTabSz="914400" rtl="0" eaLnBrk="1" latinLnBrk="0" hangingPunct="1">
        <a:lnSpc>
          <a:spcPct val="90000"/>
        </a:lnSpc>
        <a:spcBef>
          <a:spcPct val="0"/>
        </a:spcBef>
        <a:buNone/>
        <a:defRPr sz="4000" b="1" i="0" kern="1200">
          <a:solidFill>
            <a:srgbClr val="525252"/>
          </a:solidFill>
          <a:latin typeface="IBM Plex Sans SemiBold" panose="020B0503050203000203" pitchFamily="34" charset="0"/>
          <a:ea typeface="IBM Plex Sans SemiBold" panose="020B0503050203000203" pitchFamily="34" charset="0"/>
          <a:cs typeface="IBM Plex Sans SemiBold" panose="020B0503050203000203" pitchFamily="34" charset="0"/>
        </a:defRPr>
      </a:lvl1pPr>
    </p:titleStyle>
    <p:body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262626"/>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262626"/>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xmlns="">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Layout" Target="../slideLayouts/slideLayout3.xml"/><Relationship Id="rId1" Type="http://schemas.openxmlformats.org/officeDocument/2006/relationships/tags" Target="../tags/tag7.xml"/></Relationships>
</file>

<file path=ppt/slides/_rels/slide2.xml.rels><?xml version="1.0" encoding="UTF-8" standalone="yes"?>
<Relationships xmlns="http://schemas.openxmlformats.org/package/2006/relationships"><Relationship Id="rId8" Type="http://schemas.openxmlformats.org/officeDocument/2006/relationships/customXml" Target="../ink/ink4.xml"/><Relationship Id="rId13" Type="http://schemas.openxmlformats.org/officeDocument/2006/relationships/customXml" Target="../ink/ink8.xml"/><Relationship Id="rId3" Type="http://schemas.openxmlformats.org/officeDocument/2006/relationships/image" Target="../media/image6.png"/><Relationship Id="rId7" Type="http://schemas.openxmlformats.org/officeDocument/2006/relationships/customXml" Target="../ink/ink3.xml"/><Relationship Id="rId12" Type="http://schemas.openxmlformats.org/officeDocument/2006/relationships/customXml" Target="../ink/ink7.xml"/><Relationship Id="rId2" Type="http://schemas.openxmlformats.org/officeDocument/2006/relationships/slideLayout" Target="../slideLayouts/slideLayout2.xml"/><Relationship Id="rId1" Type="http://schemas.openxmlformats.org/officeDocument/2006/relationships/tags" Target="../tags/tag8.xml"/><Relationship Id="rId6" Type="http://schemas.openxmlformats.org/officeDocument/2006/relationships/customXml" Target="../ink/ink2.xml"/><Relationship Id="rId11" Type="http://schemas.openxmlformats.org/officeDocument/2006/relationships/customXml" Target="../ink/ink6.xml"/><Relationship Id="rId5" Type="http://schemas.openxmlformats.org/officeDocument/2006/relationships/image" Target="../media/image7.png"/><Relationship Id="rId10" Type="http://schemas.openxmlformats.org/officeDocument/2006/relationships/customXml" Target="../ink/ink5.xml"/><Relationship Id="rId4" Type="http://schemas.openxmlformats.org/officeDocument/2006/relationships/customXml" Target="../ink/ink1.xml"/><Relationship Id="rId9" Type="http://schemas.openxmlformats.org/officeDocument/2006/relationships/image" Target="../media/image8.png"/><Relationship Id="rId14" Type="http://schemas.openxmlformats.org/officeDocument/2006/relationships/customXml" Target="../ink/ink9.xml"/></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Layout" Target="../slideLayouts/slideLayout3.xml"/><Relationship Id="rId1" Type="http://schemas.openxmlformats.org/officeDocument/2006/relationships/tags" Target="../tags/tag9.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Layout" Target="../slideLayouts/slideLayout3.xml"/><Relationship Id="rId1" Type="http://schemas.openxmlformats.org/officeDocument/2006/relationships/tags" Target="../tags/tag10.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Layout" Target="../slideLayouts/slideLayout3.xml"/><Relationship Id="rId1" Type="http://schemas.openxmlformats.org/officeDocument/2006/relationships/tags" Target="../tags/tag11.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Layout" Target="../slideLayouts/slideLayout3.xml"/><Relationship Id="rId1" Type="http://schemas.openxmlformats.org/officeDocument/2006/relationships/tags" Target="../tags/tag12.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Layout" Target="../slideLayouts/slideLayout3.xml"/><Relationship Id="rId1" Type="http://schemas.openxmlformats.org/officeDocument/2006/relationships/tags" Target="../tags/tag13.xml"/><Relationship Id="rId4" Type="http://schemas.openxmlformats.org/officeDocument/2006/relationships/image" Target="../media/image16.svg"/></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slideLayout" Target="../slideLayouts/slideLayout3.xml"/><Relationship Id="rId1" Type="http://schemas.openxmlformats.org/officeDocument/2006/relationships/tags" Target="../tags/tag14.xml"/></Relationships>
</file>

<file path=ppt/slides/_rels/slide9.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slideLayout" Target="../slideLayouts/slideLayout3.xml"/><Relationship Id="rId1" Type="http://schemas.openxmlformats.org/officeDocument/2006/relationships/tags" Target="../tags/tag15.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Layout" Target="../slideLayouts/slideLayout3.xml"/><Relationship Id="rId1" Type="http://schemas.openxmlformats.org/officeDocument/2006/relationships/tags" Target="../tags/tag16.xm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7.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3.xml"/><Relationship Id="rId1" Type="http://schemas.openxmlformats.org/officeDocument/2006/relationships/tags" Target="../tags/tag18.xml"/><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9.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slideLayout" Target="../slideLayouts/slideLayout3.xml"/><Relationship Id="rId1" Type="http://schemas.openxmlformats.org/officeDocument/2006/relationships/tags" Target="../tags/tag20.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slideLayout" Target="../slideLayouts/slideLayout3.xml"/><Relationship Id="rId1" Type="http://schemas.openxmlformats.org/officeDocument/2006/relationships/tags" Target="../tags/tag21.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slideLayout" Target="../slideLayouts/slideLayout3.xml"/><Relationship Id="rId1" Type="http://schemas.openxmlformats.org/officeDocument/2006/relationships/tags" Target="../tags/tag22.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slideLayout" Target="../slideLayouts/slideLayout3.xml"/><Relationship Id="rId1" Type="http://schemas.openxmlformats.org/officeDocument/2006/relationships/tags" Target="../tags/tag23.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slideLayout" Target="../slideLayouts/slideLayout3.xml"/><Relationship Id="rId1" Type="http://schemas.openxmlformats.org/officeDocument/2006/relationships/tags" Target="../tags/tag24.xml"/><Relationship Id="rId4" Type="http://schemas.openxmlformats.org/officeDocument/2006/relationships/hyperlink" Target="https://github.com/Sumant-crty/IBM-Data-Analyst-Capstone-Project/blob/main/Survey%20Data%20dashboard.pdf" TargetMode="Externa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25.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slideLayout" Target="../slideLayouts/slideLayout3.xml"/><Relationship Id="rId1" Type="http://schemas.openxmlformats.org/officeDocument/2006/relationships/tags" Target="../tags/tag2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slideLayout" Target="../slideLayouts/slideLayout3.xml"/><Relationship Id="rId1" Type="http://schemas.openxmlformats.org/officeDocument/2006/relationships/tags" Target="../tags/tag27.xml"/><Relationship Id="rId4" Type="http://schemas.openxmlformats.org/officeDocument/2006/relationships/image" Target="../media/image22.png"/></Relationships>
</file>

<file path=ppt/slides/_rels/slide2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70D5631-0297-E86E-7069-C969B141FD7D}"/>
              </a:ext>
            </a:extLst>
          </p:cNvPr>
          <p:cNvSpPr>
            <a:spLocks noGrp="1"/>
          </p:cNvSpPr>
          <p:nvPr>
            <p:ph type="title"/>
          </p:nvPr>
        </p:nvSpPr>
        <p:spPr>
          <a:xfrm>
            <a:off x="838200" y="552162"/>
            <a:ext cx="10515600" cy="611620"/>
          </a:xfrm>
        </p:spPr>
        <p:txBody>
          <a:bodyPr anchor="ctr">
            <a:noAutofit/>
          </a:bodyPr>
          <a:lstStyle/>
          <a:p>
            <a:r>
              <a:rPr lang="en-US" dirty="0"/>
              <a:t>IBM Data Analyst Capstone Project</a:t>
            </a:r>
          </a:p>
        </p:txBody>
      </p:sp>
      <p:sp>
        <p:nvSpPr>
          <p:cNvPr id="3" name="Subtitle 2">
            <a:extLst>
              <a:ext uri="{FF2B5EF4-FFF2-40B4-BE49-F238E27FC236}">
                <a16:creationId xmlns:a16="http://schemas.microsoft.com/office/drawing/2014/main" xmlns="" id="{59DF6B8D-2BAC-11F8-7D28-B631D08C8D90}"/>
              </a:ext>
            </a:extLst>
          </p:cNvPr>
          <p:cNvSpPr>
            <a:spLocks noGrp="1"/>
          </p:cNvSpPr>
          <p:nvPr>
            <p:ph sz="half" idx="1"/>
          </p:nvPr>
        </p:nvSpPr>
        <p:spPr/>
        <p:txBody>
          <a:bodyPr>
            <a:normAutofit/>
          </a:bodyPr>
          <a:lstStyle/>
          <a:p>
            <a:pPr marL="0" indent="0">
              <a:buNone/>
            </a:pPr>
            <a:r>
              <a:rPr lang="en-US" dirty="0">
                <a:solidFill>
                  <a:srgbClr val="0072C3"/>
                </a:solidFill>
                <a:latin typeface="IBM Plex Mono Medium" panose="020B0609050203000203" pitchFamily="49" charset="0"/>
              </a:rPr>
              <a:t>Sumant Chakravarty</a:t>
            </a:r>
          </a:p>
          <a:p>
            <a:pPr marL="0" indent="0">
              <a:buNone/>
            </a:pPr>
            <a:r>
              <a:rPr lang="en-US" dirty="0">
                <a:solidFill>
                  <a:srgbClr val="0072C3"/>
                </a:solidFill>
                <a:latin typeface="IBM Plex Mono Medium" panose="020B0609050203000203" pitchFamily="49" charset="0"/>
              </a:rPr>
              <a:t>Date-6.03.2026</a:t>
            </a:r>
          </a:p>
          <a:p>
            <a:endParaRPr lang="en-US" dirty="0"/>
          </a:p>
        </p:txBody>
      </p:sp>
      <p:pic>
        <p:nvPicPr>
          <p:cNvPr id="4" name="Picture 3">
            <a:extLst>
              <a:ext uri="{FF2B5EF4-FFF2-40B4-BE49-F238E27FC236}">
                <a16:creationId xmlns:a16="http://schemas.microsoft.com/office/drawing/2014/main" xmlns="" id="{77323E2C-8982-861D-BE1D-3E30E5CC437C}"/>
              </a:ext>
            </a:extLst>
          </p:cNvPr>
          <p:cNvPicPr>
            <a:picLocks noChangeAspect="1"/>
          </p:cNvPicPr>
          <p:nvPr/>
        </p:nvPicPr>
        <p:blipFill>
          <a:blip r:embed="rId3"/>
          <a:stretch>
            <a:fillRect/>
          </a:stretch>
        </p:blipFill>
        <p:spPr>
          <a:xfrm>
            <a:off x="5689811" y="1600200"/>
            <a:ext cx="5038015" cy="4572000"/>
          </a:xfrm>
          <a:prstGeom prst="rect">
            <a:avLst/>
          </a:prstGeom>
          <a:noFill/>
        </p:spPr>
      </p:pic>
    </p:spTree>
    <p:custDataLst>
      <p:tags r:id="rId1"/>
    </p:custDataLst>
    <p:extLst>
      <p:ext uri="{BB962C8B-B14F-4D97-AF65-F5344CB8AC3E}">
        <p14:creationId xmlns:p14="http://schemas.microsoft.com/office/powerpoint/2010/main" xmlns="" val="400973099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xmlns="" id="{613BC838-B25A-D37F-BC71-DD617895704C}"/>
              </a:ext>
            </a:extLst>
          </p:cNvPr>
          <p:cNvPicPr>
            <a:picLocks noChangeAspect="1"/>
          </p:cNvPicPr>
          <p:nvPr/>
        </p:nvPicPr>
        <p:blipFill>
          <a:blip r:embed="rId3"/>
          <a:stretch>
            <a:fillRect/>
          </a:stretch>
        </p:blipFill>
        <p:spPr>
          <a:xfrm>
            <a:off x="1450711" y="2025672"/>
            <a:ext cx="3194581" cy="3194581"/>
          </a:xfrm>
          <a:prstGeom prst="rect">
            <a:avLst/>
          </a:prstGeom>
        </p:spPr>
      </p:pic>
      <p:sp>
        <p:nvSpPr>
          <p:cNvPr id="9" name="Title 1">
            <a:extLst>
              <a:ext uri="{FF2B5EF4-FFF2-40B4-BE49-F238E27FC236}">
                <a16:creationId xmlns:a16="http://schemas.microsoft.com/office/drawing/2014/main" xmlns="" id="{EEC79264-7E04-A135-9158-F7EF333AC3D8}"/>
              </a:ext>
            </a:extLst>
          </p:cNvPr>
          <p:cNvSpPr txBox="1">
            <a:spLocks/>
          </p:cNvSpPr>
          <p:nvPr/>
        </p:nvSpPr>
        <p:spPr>
          <a:xfrm>
            <a:off x="782054" y="263810"/>
            <a:ext cx="8508528"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b="1" i="0" kern="1200">
                <a:solidFill>
                  <a:srgbClr val="525252"/>
                </a:solidFill>
                <a:latin typeface="IBM Plex Sans SemiBold" panose="020B0503050203000203" pitchFamily="34" charset="0"/>
                <a:ea typeface="IBM Plex Sans SemiBold" panose="020B0503050203000203" pitchFamily="34" charset="0"/>
                <a:cs typeface="IBM Plex Sans SemiBold" panose="020B0503050203000203" pitchFamily="34" charset="0"/>
              </a:defRPr>
            </a:lvl1pPr>
          </a:lstStyle>
          <a:p>
            <a:r>
              <a:rPr lang="en-US"/>
              <a:t>OUTLINE</a:t>
            </a:r>
            <a:endParaRPr lang="en-US" dirty="0"/>
          </a:p>
        </p:txBody>
      </p:sp>
      <p:sp>
        <p:nvSpPr>
          <p:cNvPr id="10" name="Content Placeholder 2">
            <a:extLst>
              <a:ext uri="{FF2B5EF4-FFF2-40B4-BE49-F238E27FC236}">
                <a16:creationId xmlns:a16="http://schemas.microsoft.com/office/drawing/2014/main" xmlns="" id="{79639434-C7DB-C6DD-28C9-5FE3588C5BC8}"/>
              </a:ext>
            </a:extLst>
          </p:cNvPr>
          <p:cNvSpPr txBox="1">
            <a:spLocks/>
          </p:cNvSpPr>
          <p:nvPr/>
        </p:nvSpPr>
        <p:spPr>
          <a:xfrm>
            <a:off x="6172200" y="1825625"/>
            <a:ext cx="5181600" cy="4351338"/>
          </a:xfrm>
          <a:prstGeom prst="rect">
            <a:avLst/>
          </a:prstGeom>
        </p:spPr>
        <p:txBody>
          <a:bodyPr>
            <a:normAutofit/>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262626"/>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262626"/>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sz="2000" dirty="0">
                <a:solidFill>
                  <a:srgbClr val="0072C3"/>
                </a:solidFill>
                <a:latin typeface="Goudy Old Style" pitchFamily="18" charset="0"/>
              </a:rPr>
              <a:t>Executive Summary</a:t>
            </a:r>
          </a:p>
          <a:p>
            <a:r>
              <a:rPr lang="en-US" sz="2000" dirty="0" smtClean="0">
                <a:solidFill>
                  <a:srgbClr val="0072C3"/>
                </a:solidFill>
                <a:latin typeface="Goudy Old Style" pitchFamily="18" charset="0"/>
              </a:rPr>
              <a:t>Introduction</a:t>
            </a:r>
          </a:p>
          <a:p>
            <a:endParaRPr lang="en-US" sz="2000" dirty="0" smtClean="0">
              <a:solidFill>
                <a:srgbClr val="0072C3"/>
              </a:solidFill>
              <a:latin typeface="Goudy Old Style" pitchFamily="18" charset="0"/>
            </a:endParaRPr>
          </a:p>
          <a:p>
            <a:r>
              <a:rPr lang="en-US" sz="2000" dirty="0" smtClean="0">
                <a:solidFill>
                  <a:srgbClr val="0072C3"/>
                </a:solidFill>
                <a:latin typeface="Goudy Old Style" pitchFamily="18" charset="0"/>
              </a:rPr>
              <a:t>Methodology</a:t>
            </a:r>
            <a:endParaRPr lang="en-US" sz="2000" dirty="0">
              <a:solidFill>
                <a:srgbClr val="0072C3"/>
              </a:solidFill>
              <a:latin typeface="Goudy Old Style" pitchFamily="18" charset="0"/>
            </a:endParaRPr>
          </a:p>
          <a:p>
            <a:r>
              <a:rPr lang="en-US" sz="2000" dirty="0">
                <a:solidFill>
                  <a:srgbClr val="0072C3"/>
                </a:solidFill>
                <a:latin typeface="Goudy Old Style" pitchFamily="18" charset="0"/>
              </a:rPr>
              <a:t>Results</a:t>
            </a:r>
          </a:p>
          <a:p>
            <a:pPr lvl="1"/>
            <a:r>
              <a:rPr lang="en-US" sz="2000" dirty="0">
                <a:solidFill>
                  <a:srgbClr val="0072C3"/>
                </a:solidFill>
                <a:latin typeface="Goudy Old Style" pitchFamily="18" charset="0"/>
              </a:rPr>
              <a:t>Visualization – Charts</a:t>
            </a:r>
          </a:p>
          <a:p>
            <a:pPr lvl="1"/>
            <a:r>
              <a:rPr lang="en-US" sz="2000" dirty="0">
                <a:solidFill>
                  <a:srgbClr val="0072C3"/>
                </a:solidFill>
                <a:latin typeface="Goudy Old Style" pitchFamily="18" charset="0"/>
              </a:rPr>
              <a:t>Dashboard</a:t>
            </a:r>
          </a:p>
          <a:p>
            <a:r>
              <a:rPr lang="en-US" sz="2000" dirty="0">
                <a:solidFill>
                  <a:srgbClr val="0072C3"/>
                </a:solidFill>
                <a:latin typeface="Goudy Old Style" pitchFamily="18" charset="0"/>
              </a:rPr>
              <a:t>Discussion</a:t>
            </a:r>
          </a:p>
          <a:p>
            <a:pPr lvl="1"/>
            <a:r>
              <a:rPr lang="en-US" sz="2000" dirty="0">
                <a:solidFill>
                  <a:srgbClr val="0072C3"/>
                </a:solidFill>
                <a:latin typeface="Goudy Old Style" pitchFamily="18" charset="0"/>
              </a:rPr>
              <a:t>Findings &amp; Implications</a:t>
            </a:r>
          </a:p>
          <a:p>
            <a:r>
              <a:rPr lang="en-US" sz="2000" dirty="0">
                <a:solidFill>
                  <a:srgbClr val="0072C3"/>
                </a:solidFill>
                <a:latin typeface="Goudy Old Style" pitchFamily="18" charset="0"/>
              </a:rPr>
              <a:t>Conclusion</a:t>
            </a:r>
          </a:p>
          <a:p>
            <a:r>
              <a:rPr lang="en-US" sz="2000" dirty="0">
                <a:solidFill>
                  <a:srgbClr val="0072C3"/>
                </a:solidFill>
                <a:latin typeface="Goudy Old Style" pitchFamily="18" charset="0"/>
              </a:rPr>
              <a:t>Appendix</a:t>
            </a:r>
          </a:p>
        </p:txBody>
      </p:sp>
      <mc:AlternateContent xmlns:mc="http://schemas.openxmlformats.org/markup-compatibility/2006">
        <mc:Choice xmlns:p14="http://schemas.microsoft.com/office/powerpoint/2010/main" xmlns="" Requires="p14">
          <p:contentPart p14:bwMode="auto" r:id="rId4">
            <p14:nvContentPartPr>
              <p14:cNvPr id="11" name="Ink 10">
                <a:extLst>
                  <a:ext uri="{FF2B5EF4-FFF2-40B4-BE49-F238E27FC236}">
                    <a16:creationId xmlns:a16="http://schemas.microsoft.com/office/drawing/2014/main" id="{17992DA0-58E4-05C4-71CF-DD740B996440}"/>
                  </a:ext>
                </a:extLst>
              </p14:cNvPr>
              <p14:cNvContentPartPr/>
              <p14:nvPr/>
            </p14:nvContentPartPr>
            <p14:xfrm>
              <a:off x="1889280" y="999312"/>
              <a:ext cx="360" cy="360"/>
            </p14:xfrm>
          </p:contentPart>
        </mc:Choice>
        <mc:Fallback>
          <p:pic>
            <p:nvPicPr>
              <p:cNvPr id="11" name="Ink 10">
                <a:extLst>
                  <a:ext uri="{FF2B5EF4-FFF2-40B4-BE49-F238E27FC236}">
                    <a16:creationId xmlns:a16="http://schemas.microsoft.com/office/drawing/2014/main" xmlns="" xmlns:p14="http://schemas.microsoft.com/office/powerpoint/2010/main" id="{17992DA0-58E4-05C4-71CF-DD740B996440}"/>
                  </a:ext>
                </a:extLst>
              </p:cNvPr>
              <p:cNvPicPr/>
              <p:nvPr/>
            </p:nvPicPr>
            <p:blipFill>
              <a:blip r:embed="rId5"/>
              <a:stretch>
                <a:fillRect/>
              </a:stretch>
            </p:blipFill>
            <p:spPr>
              <a:xfrm>
                <a:off x="1799280" y="819312"/>
                <a:ext cx="180000" cy="360000"/>
              </a:xfrm>
              <a:prstGeom prst="rect">
                <a:avLst/>
              </a:prstGeom>
            </p:spPr>
          </p:pic>
        </mc:Fallback>
      </mc:AlternateContent>
      <mc:AlternateContent xmlns:mc="http://schemas.openxmlformats.org/markup-compatibility/2006">
        <mc:Choice xmlns:p14="http://schemas.microsoft.com/office/powerpoint/2010/main" xmlns="" Requires="p14">
          <p:contentPart p14:bwMode="auto" r:id="rId6">
            <p14:nvContentPartPr>
              <p14:cNvPr id="12" name="Ink 11">
                <a:extLst>
                  <a:ext uri="{FF2B5EF4-FFF2-40B4-BE49-F238E27FC236}">
                    <a16:creationId xmlns:a16="http://schemas.microsoft.com/office/drawing/2014/main" id="{482A2257-403C-392A-475C-257A25E95802}"/>
                  </a:ext>
                </a:extLst>
              </p14:cNvPr>
              <p14:cNvContentPartPr/>
              <p14:nvPr/>
            </p14:nvContentPartPr>
            <p14:xfrm>
              <a:off x="2328120" y="962952"/>
              <a:ext cx="360" cy="360"/>
            </p14:xfrm>
          </p:contentPart>
        </mc:Choice>
        <mc:Fallback>
          <p:pic>
            <p:nvPicPr>
              <p:cNvPr id="12" name="Ink 11">
                <a:extLst>
                  <a:ext uri="{FF2B5EF4-FFF2-40B4-BE49-F238E27FC236}">
                    <a16:creationId xmlns:a16="http://schemas.microsoft.com/office/drawing/2014/main" xmlns="" xmlns:p14="http://schemas.microsoft.com/office/powerpoint/2010/main" id="{482A2257-403C-392A-475C-257A25E95802}"/>
                  </a:ext>
                </a:extLst>
              </p:cNvPr>
              <p:cNvPicPr/>
              <p:nvPr/>
            </p:nvPicPr>
            <p:blipFill>
              <a:blip r:embed="rId5"/>
              <a:stretch>
                <a:fillRect/>
              </a:stretch>
            </p:blipFill>
            <p:spPr>
              <a:xfrm>
                <a:off x="2238120" y="782952"/>
                <a:ext cx="180000" cy="360000"/>
              </a:xfrm>
              <a:prstGeom prst="rect">
                <a:avLst/>
              </a:prstGeom>
            </p:spPr>
          </p:pic>
        </mc:Fallback>
      </mc:AlternateContent>
      <mc:AlternateContent xmlns:mc="http://schemas.openxmlformats.org/markup-compatibility/2006">
        <mc:Choice xmlns:p14="http://schemas.microsoft.com/office/powerpoint/2010/main" xmlns="" Requires="p14">
          <p:contentPart p14:bwMode="auto" r:id="rId7">
            <p14:nvContentPartPr>
              <p14:cNvPr id="13" name="Ink 12">
                <a:extLst>
                  <a:ext uri="{FF2B5EF4-FFF2-40B4-BE49-F238E27FC236}">
                    <a16:creationId xmlns:a16="http://schemas.microsoft.com/office/drawing/2014/main" id="{D029E5DF-95C3-9324-3430-6C07411D941C}"/>
                  </a:ext>
                </a:extLst>
              </p14:cNvPr>
              <p14:cNvContentPartPr/>
              <p14:nvPr/>
            </p14:nvContentPartPr>
            <p14:xfrm>
              <a:off x="2828160" y="926232"/>
              <a:ext cx="360" cy="360"/>
            </p14:xfrm>
          </p:contentPart>
        </mc:Choice>
        <mc:Fallback>
          <p:pic>
            <p:nvPicPr>
              <p:cNvPr id="13" name="Ink 12">
                <a:extLst>
                  <a:ext uri="{FF2B5EF4-FFF2-40B4-BE49-F238E27FC236}">
                    <a16:creationId xmlns:a16="http://schemas.microsoft.com/office/drawing/2014/main" xmlns="" xmlns:p14="http://schemas.microsoft.com/office/powerpoint/2010/main" id="{D029E5DF-95C3-9324-3430-6C07411D941C}"/>
                  </a:ext>
                </a:extLst>
              </p:cNvPr>
              <p:cNvPicPr/>
              <p:nvPr/>
            </p:nvPicPr>
            <p:blipFill>
              <a:blip r:embed="rId5"/>
              <a:stretch>
                <a:fillRect/>
              </a:stretch>
            </p:blipFill>
            <p:spPr>
              <a:xfrm>
                <a:off x="2738160" y="746232"/>
                <a:ext cx="180000" cy="360000"/>
              </a:xfrm>
              <a:prstGeom prst="rect">
                <a:avLst/>
              </a:prstGeom>
            </p:spPr>
          </p:pic>
        </mc:Fallback>
      </mc:AlternateContent>
      <mc:AlternateContent xmlns:mc="http://schemas.openxmlformats.org/markup-compatibility/2006">
        <mc:Choice xmlns:p14="http://schemas.microsoft.com/office/powerpoint/2010/main" xmlns="" Requires="p14">
          <p:contentPart p14:bwMode="auto" r:id="rId8">
            <p14:nvContentPartPr>
              <p14:cNvPr id="14" name="Ink 13">
                <a:extLst>
                  <a:ext uri="{FF2B5EF4-FFF2-40B4-BE49-F238E27FC236}">
                    <a16:creationId xmlns:a16="http://schemas.microsoft.com/office/drawing/2014/main" id="{51E65F16-DA3B-6993-F729-45193F9CF124}"/>
                  </a:ext>
                </a:extLst>
              </p14:cNvPr>
              <p14:cNvContentPartPr/>
              <p14:nvPr/>
            </p14:nvContentPartPr>
            <p14:xfrm>
              <a:off x="2828160" y="926232"/>
              <a:ext cx="3240" cy="5040"/>
            </p14:xfrm>
          </p:contentPart>
        </mc:Choice>
        <mc:Fallback>
          <p:pic>
            <p:nvPicPr>
              <p:cNvPr id="14" name="Ink 13">
                <a:extLst>
                  <a:ext uri="{FF2B5EF4-FFF2-40B4-BE49-F238E27FC236}">
                    <a16:creationId xmlns:a16="http://schemas.microsoft.com/office/drawing/2014/main" xmlns="" xmlns:p14="http://schemas.microsoft.com/office/powerpoint/2010/main" id="{51E65F16-DA3B-6993-F729-45193F9CF124}"/>
                  </a:ext>
                </a:extLst>
              </p:cNvPr>
              <p:cNvPicPr/>
              <p:nvPr/>
            </p:nvPicPr>
            <p:blipFill>
              <a:blip r:embed="rId9"/>
              <a:stretch>
                <a:fillRect/>
              </a:stretch>
            </p:blipFill>
            <p:spPr>
              <a:xfrm>
                <a:off x="2738160" y="758232"/>
                <a:ext cx="182880" cy="340704"/>
              </a:xfrm>
              <a:prstGeom prst="rect">
                <a:avLst/>
              </a:prstGeom>
            </p:spPr>
          </p:pic>
        </mc:Fallback>
      </mc:AlternateContent>
      <mc:AlternateContent xmlns:mc="http://schemas.openxmlformats.org/markup-compatibility/2006">
        <mc:Choice xmlns:p14="http://schemas.microsoft.com/office/powerpoint/2010/main" xmlns="" Requires="p14">
          <p:contentPart p14:bwMode="auto" r:id="rId10">
            <p14:nvContentPartPr>
              <p14:cNvPr id="15" name="Ink 14">
                <a:extLst>
                  <a:ext uri="{FF2B5EF4-FFF2-40B4-BE49-F238E27FC236}">
                    <a16:creationId xmlns:a16="http://schemas.microsoft.com/office/drawing/2014/main" id="{DA4954AB-7AA6-D07E-B72B-071B959556E6}"/>
                  </a:ext>
                </a:extLst>
              </p14:cNvPr>
              <p14:cNvContentPartPr/>
              <p14:nvPr/>
            </p14:nvContentPartPr>
            <p14:xfrm>
              <a:off x="7266240" y="2888952"/>
              <a:ext cx="360" cy="360"/>
            </p14:xfrm>
          </p:contentPart>
        </mc:Choice>
        <mc:Fallback>
          <p:pic>
            <p:nvPicPr>
              <p:cNvPr id="15" name="Ink 14">
                <a:extLst>
                  <a:ext uri="{FF2B5EF4-FFF2-40B4-BE49-F238E27FC236}">
                    <a16:creationId xmlns:a16="http://schemas.microsoft.com/office/drawing/2014/main" xmlns="" xmlns:p14="http://schemas.microsoft.com/office/powerpoint/2010/main" id="{DA4954AB-7AA6-D07E-B72B-071B959556E6}"/>
                  </a:ext>
                </a:extLst>
              </p:cNvPr>
              <p:cNvPicPr/>
              <p:nvPr/>
            </p:nvPicPr>
            <p:blipFill>
              <a:blip r:embed="rId5"/>
              <a:stretch>
                <a:fillRect/>
              </a:stretch>
            </p:blipFill>
            <p:spPr>
              <a:xfrm>
                <a:off x="7176240" y="2708952"/>
                <a:ext cx="180000" cy="360000"/>
              </a:xfrm>
              <a:prstGeom prst="rect">
                <a:avLst/>
              </a:prstGeom>
            </p:spPr>
          </p:pic>
        </mc:Fallback>
      </mc:AlternateContent>
      <mc:AlternateContent xmlns:mc="http://schemas.openxmlformats.org/markup-compatibility/2006">
        <mc:Choice xmlns:p14="http://schemas.microsoft.com/office/powerpoint/2010/main" xmlns="" Requires="p14">
          <p:contentPart p14:bwMode="auto" r:id="rId11">
            <p14:nvContentPartPr>
              <p14:cNvPr id="16" name="Ink 15">
                <a:extLst>
                  <a:ext uri="{FF2B5EF4-FFF2-40B4-BE49-F238E27FC236}">
                    <a16:creationId xmlns:a16="http://schemas.microsoft.com/office/drawing/2014/main" id="{4C9430D9-2989-125F-94DC-1DA2D66BDD55}"/>
                  </a:ext>
                </a:extLst>
              </p14:cNvPr>
              <p14:cNvContentPartPr/>
              <p14:nvPr/>
            </p14:nvContentPartPr>
            <p14:xfrm>
              <a:off x="7266240" y="2888952"/>
              <a:ext cx="360" cy="360"/>
            </p14:xfrm>
          </p:contentPart>
        </mc:Choice>
        <mc:Fallback>
          <p:pic>
            <p:nvPicPr>
              <p:cNvPr id="16" name="Ink 15">
                <a:extLst>
                  <a:ext uri="{FF2B5EF4-FFF2-40B4-BE49-F238E27FC236}">
                    <a16:creationId xmlns:a16="http://schemas.microsoft.com/office/drawing/2014/main" xmlns="" xmlns:p14="http://schemas.microsoft.com/office/powerpoint/2010/main" id="{4C9430D9-2989-125F-94DC-1DA2D66BDD55}"/>
                  </a:ext>
                </a:extLst>
              </p:cNvPr>
              <p:cNvPicPr/>
              <p:nvPr/>
            </p:nvPicPr>
            <p:blipFill>
              <a:blip r:embed="rId5"/>
              <a:stretch>
                <a:fillRect/>
              </a:stretch>
            </p:blipFill>
            <p:spPr>
              <a:xfrm>
                <a:off x="7176240" y="2708952"/>
                <a:ext cx="180000" cy="360000"/>
              </a:xfrm>
              <a:prstGeom prst="rect">
                <a:avLst/>
              </a:prstGeom>
            </p:spPr>
          </p:pic>
        </mc:Fallback>
      </mc:AlternateContent>
      <mc:AlternateContent xmlns:mc="http://schemas.openxmlformats.org/markup-compatibility/2006">
        <mc:Choice xmlns:p14="http://schemas.microsoft.com/office/powerpoint/2010/main" xmlns="" Requires="p14">
          <p:contentPart p14:bwMode="auto" r:id="rId12">
            <p14:nvContentPartPr>
              <p14:cNvPr id="17" name="Ink 16">
                <a:extLst>
                  <a:ext uri="{FF2B5EF4-FFF2-40B4-BE49-F238E27FC236}">
                    <a16:creationId xmlns:a16="http://schemas.microsoft.com/office/drawing/2014/main" id="{009380E8-5542-6CEB-DEF5-1F0E98FBDFC2}"/>
                  </a:ext>
                </a:extLst>
              </p14:cNvPr>
              <p14:cNvContentPartPr/>
              <p14:nvPr/>
            </p14:nvContentPartPr>
            <p14:xfrm>
              <a:off x="7266240" y="2888952"/>
              <a:ext cx="360" cy="360"/>
            </p14:xfrm>
          </p:contentPart>
        </mc:Choice>
        <mc:Fallback>
          <p:pic>
            <p:nvPicPr>
              <p:cNvPr id="17" name="Ink 16">
                <a:extLst>
                  <a:ext uri="{FF2B5EF4-FFF2-40B4-BE49-F238E27FC236}">
                    <a16:creationId xmlns:a16="http://schemas.microsoft.com/office/drawing/2014/main" xmlns="" xmlns:p14="http://schemas.microsoft.com/office/powerpoint/2010/main" id="{009380E8-5542-6CEB-DEF5-1F0E98FBDFC2}"/>
                  </a:ext>
                </a:extLst>
              </p:cNvPr>
              <p:cNvPicPr/>
              <p:nvPr/>
            </p:nvPicPr>
            <p:blipFill>
              <a:blip r:embed="rId5"/>
              <a:stretch>
                <a:fillRect/>
              </a:stretch>
            </p:blipFill>
            <p:spPr>
              <a:xfrm>
                <a:off x="7176240" y="2708952"/>
                <a:ext cx="180000" cy="360000"/>
              </a:xfrm>
              <a:prstGeom prst="rect">
                <a:avLst/>
              </a:prstGeom>
            </p:spPr>
          </p:pic>
        </mc:Fallback>
      </mc:AlternateContent>
      <mc:AlternateContent xmlns:mc="http://schemas.openxmlformats.org/markup-compatibility/2006">
        <mc:Choice xmlns:p14="http://schemas.microsoft.com/office/powerpoint/2010/main" xmlns="" Requires="p14">
          <p:contentPart p14:bwMode="auto" r:id="rId13">
            <p14:nvContentPartPr>
              <p14:cNvPr id="18" name="Ink 17">
                <a:extLst>
                  <a:ext uri="{FF2B5EF4-FFF2-40B4-BE49-F238E27FC236}">
                    <a16:creationId xmlns:a16="http://schemas.microsoft.com/office/drawing/2014/main" id="{73A9B50E-8658-465E-AEAA-D97CD87BB40D}"/>
                  </a:ext>
                </a:extLst>
              </p14:cNvPr>
              <p14:cNvContentPartPr/>
              <p14:nvPr/>
            </p14:nvContentPartPr>
            <p14:xfrm>
              <a:off x="7266240" y="2888952"/>
              <a:ext cx="360" cy="360"/>
            </p14:xfrm>
          </p:contentPart>
        </mc:Choice>
        <mc:Fallback>
          <p:pic>
            <p:nvPicPr>
              <p:cNvPr id="18" name="Ink 17">
                <a:extLst>
                  <a:ext uri="{FF2B5EF4-FFF2-40B4-BE49-F238E27FC236}">
                    <a16:creationId xmlns:a16="http://schemas.microsoft.com/office/drawing/2014/main" xmlns="" xmlns:p14="http://schemas.microsoft.com/office/powerpoint/2010/main" id="{73A9B50E-8658-465E-AEAA-D97CD87BB40D}"/>
                  </a:ext>
                </a:extLst>
              </p:cNvPr>
              <p:cNvPicPr/>
              <p:nvPr/>
            </p:nvPicPr>
            <p:blipFill>
              <a:blip r:embed="rId5"/>
              <a:stretch>
                <a:fillRect/>
              </a:stretch>
            </p:blipFill>
            <p:spPr>
              <a:xfrm>
                <a:off x="7176240" y="2708952"/>
                <a:ext cx="180000" cy="360000"/>
              </a:xfrm>
              <a:prstGeom prst="rect">
                <a:avLst/>
              </a:prstGeom>
            </p:spPr>
          </p:pic>
        </mc:Fallback>
      </mc:AlternateContent>
      <mc:AlternateContent xmlns:mc="http://schemas.openxmlformats.org/markup-compatibility/2006">
        <mc:Choice xmlns:p14="http://schemas.microsoft.com/office/powerpoint/2010/main" xmlns="" Requires="p14">
          <p:contentPart p14:bwMode="auto" r:id="rId14">
            <p14:nvContentPartPr>
              <p14:cNvPr id="19" name="Ink 18">
                <a:extLst>
                  <a:ext uri="{FF2B5EF4-FFF2-40B4-BE49-F238E27FC236}">
                    <a16:creationId xmlns:a16="http://schemas.microsoft.com/office/drawing/2014/main" id="{329C95BA-F81E-F99B-4BF2-F62AECFA21A6}"/>
                  </a:ext>
                </a:extLst>
              </p14:cNvPr>
              <p14:cNvContentPartPr/>
              <p14:nvPr/>
            </p14:nvContentPartPr>
            <p14:xfrm>
              <a:off x="6680880" y="2877072"/>
              <a:ext cx="360" cy="360"/>
            </p14:xfrm>
          </p:contentPart>
        </mc:Choice>
        <mc:Fallback>
          <p:pic>
            <p:nvPicPr>
              <p:cNvPr id="19" name="Ink 18">
                <a:extLst>
                  <a:ext uri="{FF2B5EF4-FFF2-40B4-BE49-F238E27FC236}">
                    <a16:creationId xmlns:a16="http://schemas.microsoft.com/office/drawing/2014/main" xmlns="" xmlns:p14="http://schemas.microsoft.com/office/powerpoint/2010/main" id="{329C95BA-F81E-F99B-4BF2-F62AECFA21A6}"/>
                  </a:ext>
                </a:extLst>
              </p:cNvPr>
              <p:cNvPicPr/>
              <p:nvPr/>
            </p:nvPicPr>
            <p:blipFill>
              <a:blip r:embed="rId5"/>
              <a:stretch>
                <a:fillRect/>
              </a:stretch>
            </p:blipFill>
            <p:spPr>
              <a:xfrm>
                <a:off x="6590880" y="2697072"/>
                <a:ext cx="180000" cy="360000"/>
              </a:xfrm>
              <a:prstGeom prst="rect">
                <a:avLst/>
              </a:prstGeom>
            </p:spPr>
          </p:pic>
        </mc:Fallback>
      </mc:AlternateContent>
    </p:spTree>
    <p:custDataLst>
      <p:tags r:id="rId1"/>
    </p:custDataLst>
    <p:extLst>
      <p:ext uri="{BB962C8B-B14F-4D97-AF65-F5344CB8AC3E}">
        <p14:creationId xmlns:p14="http://schemas.microsoft.com/office/powerpoint/2010/main" xmlns="" val="145324119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3E48DC5-8A48-2A34-31B9-FC8CB168CAED}"/>
              </a:ext>
            </a:extLst>
          </p:cNvPr>
          <p:cNvSpPr>
            <a:spLocks noGrp="1"/>
          </p:cNvSpPr>
          <p:nvPr>
            <p:ph type="title"/>
          </p:nvPr>
        </p:nvSpPr>
        <p:spPr>
          <a:xfrm>
            <a:off x="733926" y="304965"/>
            <a:ext cx="8565109" cy="1325563"/>
          </a:xfrm>
        </p:spPr>
        <p:txBody>
          <a:bodyPr anchor="ctr">
            <a:normAutofit/>
          </a:bodyPr>
          <a:lstStyle/>
          <a:p>
            <a:r>
              <a:rPr lang="en-US" dirty="0"/>
              <a:t>EXECUTIVE SUMMARY</a:t>
            </a:r>
          </a:p>
        </p:txBody>
      </p:sp>
      <p:sp>
        <p:nvSpPr>
          <p:cNvPr id="3" name="Content Placeholder 2">
            <a:extLst>
              <a:ext uri="{FF2B5EF4-FFF2-40B4-BE49-F238E27FC236}">
                <a16:creationId xmlns:a16="http://schemas.microsoft.com/office/drawing/2014/main" xmlns="" id="{06B44109-938A-7A63-C3A8-FDDB5C799EA5}"/>
              </a:ext>
            </a:extLst>
          </p:cNvPr>
          <p:cNvSpPr txBox="1">
            <a:spLocks/>
          </p:cNvSpPr>
          <p:nvPr/>
        </p:nvSpPr>
        <p:spPr>
          <a:xfrm>
            <a:off x="4389349" y="1630528"/>
            <a:ext cx="7068725" cy="4465447"/>
          </a:xfrm>
          <a:prstGeom prst="rect">
            <a:avLst/>
          </a:prstGeom>
        </p:spPr>
        <p:txBody>
          <a:bodyPr vert="horz" lIns="91440" tIns="45720" rIns="91440" bIns="45720" rtlCol="0">
            <a:normAutofit fontScale="47500" lnSpcReduction="20000"/>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r>
              <a:rPr lang="en-US" sz="2400" b="1" dirty="0">
                <a:solidFill>
                  <a:srgbClr val="0072C3"/>
                </a:solidFill>
              </a:rPr>
              <a:t>The primary objective of this project was to identify emerging trends in programming languages, databases, and professional demographics to understand the shifting landscape of the IT industry.</a:t>
            </a:r>
          </a:p>
          <a:p>
            <a:pPr marL="0" indent="0">
              <a:buNone/>
            </a:pPr>
            <a:r>
              <a:rPr lang="en-US" sz="2200" b="1" dirty="0">
                <a:solidFill>
                  <a:srgbClr val="0072C3"/>
                </a:solidFill>
              </a:rPr>
              <a:t>Summarize key findings here</a:t>
            </a:r>
            <a:endParaRPr lang="en-US" sz="2400" b="1" dirty="0">
              <a:solidFill>
                <a:srgbClr val="0072C3"/>
              </a:solidFill>
            </a:endParaRPr>
          </a:p>
          <a:p>
            <a:r>
              <a:rPr lang="en-US" sz="2400" b="1" dirty="0">
                <a:solidFill>
                  <a:srgbClr val="0072C3"/>
                </a:solidFill>
              </a:rPr>
              <a:t>1. Programming Language Trends</a:t>
            </a:r>
          </a:p>
          <a:p>
            <a:r>
              <a:rPr lang="en-US" sz="2400" b="1" dirty="0">
                <a:solidFill>
                  <a:srgbClr val="0072C3"/>
                </a:solidFill>
              </a:rPr>
              <a:t>Current Leaders:</a:t>
            </a:r>
            <a:r>
              <a:rPr lang="en-US" sz="2400" dirty="0">
                <a:solidFill>
                  <a:srgbClr val="0072C3"/>
                </a:solidFill>
              </a:rPr>
              <a:t> JavaScript, HTML/CSS, and SQL remain the most widely used languages in the industry.</a:t>
            </a:r>
          </a:p>
          <a:p>
            <a:r>
              <a:rPr lang="en-US" sz="2400" b="1" dirty="0">
                <a:solidFill>
                  <a:srgbClr val="0072C3"/>
                </a:solidFill>
              </a:rPr>
              <a:t>Future Growth:</a:t>
            </a:r>
            <a:r>
              <a:rPr lang="en-US" sz="2400" dirty="0">
                <a:solidFill>
                  <a:srgbClr val="0072C3"/>
                </a:solidFill>
              </a:rPr>
              <a:t> </a:t>
            </a:r>
            <a:r>
              <a:rPr lang="en-US" sz="2400" b="1" dirty="0">
                <a:solidFill>
                  <a:srgbClr val="0072C3"/>
                </a:solidFill>
              </a:rPr>
              <a:t>Python</a:t>
            </a:r>
            <a:r>
              <a:rPr lang="en-US" sz="2400" dirty="0">
                <a:solidFill>
                  <a:srgbClr val="0072C3"/>
                </a:solidFill>
              </a:rPr>
              <a:t> is the fastest-growing major language and is projected to potentially overtake JavaScript in popularity. </a:t>
            </a:r>
            <a:r>
              <a:rPr lang="en-US" sz="2400" b="1" dirty="0">
                <a:solidFill>
                  <a:srgbClr val="0072C3"/>
                </a:solidFill>
              </a:rPr>
              <a:t>TypeScript</a:t>
            </a:r>
            <a:r>
              <a:rPr lang="en-US" sz="2400" dirty="0">
                <a:solidFill>
                  <a:srgbClr val="0072C3"/>
                </a:solidFill>
              </a:rPr>
              <a:t> is also seeing a significant rise in demand for the coming year.</a:t>
            </a:r>
          </a:p>
          <a:p>
            <a:r>
              <a:rPr lang="en-US" sz="2400" b="1" dirty="0">
                <a:solidFill>
                  <a:srgbClr val="0072C3"/>
                </a:solidFill>
              </a:rPr>
              <a:t>2. Database Trends</a:t>
            </a:r>
          </a:p>
          <a:p>
            <a:r>
              <a:rPr lang="en-US" sz="2400" b="1" dirty="0">
                <a:solidFill>
                  <a:srgbClr val="0072C3"/>
                </a:solidFill>
              </a:rPr>
              <a:t>Current Usage:</a:t>
            </a:r>
            <a:r>
              <a:rPr lang="en-US" sz="2400" dirty="0">
                <a:solidFill>
                  <a:srgbClr val="0072C3"/>
                </a:solidFill>
              </a:rPr>
              <a:t> MySQL and Microsoft SQL Server are the most commonly used databases.</a:t>
            </a:r>
          </a:p>
          <a:p>
            <a:r>
              <a:rPr lang="en-US" sz="2400" b="1" dirty="0">
                <a:solidFill>
                  <a:srgbClr val="0072C3"/>
                </a:solidFill>
              </a:rPr>
              <a:t>Future Shift:</a:t>
            </a:r>
            <a:r>
              <a:rPr lang="en-US" sz="2400" dirty="0">
                <a:solidFill>
                  <a:srgbClr val="0072C3"/>
                </a:solidFill>
              </a:rPr>
              <a:t> There is a clear trend toward open-source and NoSQL solutions. </a:t>
            </a:r>
            <a:r>
              <a:rPr lang="en-US" sz="2400" b="1" dirty="0">
                <a:solidFill>
                  <a:srgbClr val="0072C3"/>
                </a:solidFill>
              </a:rPr>
              <a:t>PostgreSQL</a:t>
            </a:r>
            <a:r>
              <a:rPr lang="en-US" sz="2400" dirty="0">
                <a:solidFill>
                  <a:srgbClr val="0072C3"/>
                </a:solidFill>
              </a:rPr>
              <a:t> and </a:t>
            </a:r>
            <a:r>
              <a:rPr lang="en-US" sz="2400" b="1" dirty="0">
                <a:solidFill>
                  <a:srgbClr val="0072C3"/>
                </a:solidFill>
              </a:rPr>
              <a:t>MongoDB</a:t>
            </a:r>
            <a:r>
              <a:rPr lang="en-US" sz="2400" dirty="0">
                <a:solidFill>
                  <a:srgbClr val="0072C3"/>
                </a:solidFill>
              </a:rPr>
              <a:t> are the most "wanted" databases by developers, indicating a shift away from traditional relational systems like SQLite for new projects.</a:t>
            </a:r>
          </a:p>
          <a:p>
            <a:r>
              <a:rPr lang="en-US" sz="2400" b="1" dirty="0">
                <a:solidFill>
                  <a:srgbClr val="0072C3"/>
                </a:solidFill>
              </a:rPr>
              <a:t>3. Developer Demographics</a:t>
            </a:r>
          </a:p>
          <a:p>
            <a:r>
              <a:rPr lang="en-US" sz="2400" b="1" dirty="0">
                <a:solidFill>
                  <a:srgbClr val="0072C3"/>
                </a:solidFill>
              </a:rPr>
              <a:t>Age &amp; Education:</a:t>
            </a:r>
            <a:r>
              <a:rPr lang="en-US" sz="2400" dirty="0">
                <a:solidFill>
                  <a:srgbClr val="0072C3"/>
                </a:solidFill>
              </a:rPr>
              <a:t> The majority of respondents are in the </a:t>
            </a:r>
            <a:r>
              <a:rPr lang="en-US" sz="2400" b="1" dirty="0">
                <a:solidFill>
                  <a:srgbClr val="0072C3"/>
                </a:solidFill>
              </a:rPr>
              <a:t>18–34 age bracket</a:t>
            </a:r>
            <a:r>
              <a:rPr lang="en-US" sz="2400" dirty="0">
                <a:solidFill>
                  <a:srgbClr val="0072C3"/>
                </a:solidFill>
              </a:rPr>
              <a:t>, and approximately three-fourths of developers hold at least a Bachelor’s degree.</a:t>
            </a:r>
          </a:p>
          <a:p>
            <a:r>
              <a:rPr lang="en-US" sz="2400" b="1" dirty="0">
                <a:solidFill>
                  <a:srgbClr val="0072C3"/>
                </a:solidFill>
              </a:rPr>
              <a:t>Gender Gap:</a:t>
            </a:r>
            <a:r>
              <a:rPr lang="en-US" sz="2400" dirty="0">
                <a:solidFill>
                  <a:srgbClr val="0072C3"/>
                </a:solidFill>
              </a:rPr>
              <a:t> The analysis highlights a significant gender disparity in the tech field, with roughly </a:t>
            </a:r>
            <a:r>
              <a:rPr lang="en-US" sz="2400" b="1" dirty="0">
                <a:solidFill>
                  <a:srgbClr val="0072C3"/>
                </a:solidFill>
              </a:rPr>
              <a:t>90% of respondents identifying as male</a:t>
            </a:r>
            <a:r>
              <a:rPr lang="en-US" sz="2400" dirty="0">
                <a:solidFill>
                  <a:srgbClr val="0072C3"/>
                </a:solidFill>
              </a:rPr>
              <a:t>, suggesting a critical need for diversity and inclusion initiatives.</a:t>
            </a:r>
          </a:p>
          <a:p>
            <a:r>
              <a:rPr lang="en-US" sz="2400" b="1" dirty="0">
                <a:solidFill>
                  <a:srgbClr val="0072C3"/>
                </a:solidFill>
              </a:rPr>
              <a:t>4. Platforms &amp; Tools</a:t>
            </a:r>
          </a:p>
          <a:p>
            <a:r>
              <a:rPr lang="en-US" sz="2400" b="1" dirty="0">
                <a:solidFill>
                  <a:srgbClr val="0072C3"/>
                </a:solidFill>
              </a:rPr>
              <a:t>Operating Systems:</a:t>
            </a:r>
            <a:r>
              <a:rPr lang="en-US" sz="2400" dirty="0">
                <a:solidFill>
                  <a:srgbClr val="0072C3"/>
                </a:solidFill>
              </a:rPr>
              <a:t> </a:t>
            </a:r>
            <a:r>
              <a:rPr lang="en-US" sz="2400" b="1" dirty="0">
                <a:solidFill>
                  <a:srgbClr val="0072C3"/>
                </a:solidFill>
              </a:rPr>
              <a:t>Linux</a:t>
            </a:r>
            <a:r>
              <a:rPr lang="en-US" sz="2400" dirty="0">
                <a:solidFill>
                  <a:srgbClr val="0072C3"/>
                </a:solidFill>
              </a:rPr>
              <a:t> and </a:t>
            </a:r>
            <a:r>
              <a:rPr lang="en-US" sz="2400" b="1" dirty="0">
                <a:solidFill>
                  <a:srgbClr val="0072C3"/>
                </a:solidFill>
              </a:rPr>
              <a:t>Windows</a:t>
            </a:r>
            <a:r>
              <a:rPr lang="en-US" sz="2400" dirty="0">
                <a:solidFill>
                  <a:srgbClr val="0072C3"/>
                </a:solidFill>
              </a:rPr>
              <a:t> are the most common platforms.</a:t>
            </a:r>
          </a:p>
          <a:p>
            <a:r>
              <a:rPr lang="en-US" sz="2400" b="1" dirty="0">
                <a:solidFill>
                  <a:srgbClr val="0072C3"/>
                </a:solidFill>
              </a:rPr>
              <a:t>Cloud Adoption:</a:t>
            </a:r>
            <a:r>
              <a:rPr lang="en-US" sz="2400" dirty="0">
                <a:solidFill>
                  <a:srgbClr val="0072C3"/>
                </a:solidFill>
              </a:rPr>
              <a:t> Major cloud platforms like AWS, Azure, and Google Cloud remain in high demand as companies move toward scalable infrastructure.</a:t>
            </a:r>
          </a:p>
        </p:txBody>
      </p:sp>
      <p:pic>
        <p:nvPicPr>
          <p:cNvPr id="7" name="Picture 6">
            <a:extLst>
              <a:ext uri="{FF2B5EF4-FFF2-40B4-BE49-F238E27FC236}">
                <a16:creationId xmlns:a16="http://schemas.microsoft.com/office/drawing/2014/main" xmlns="" id="{DA6795A9-FE70-B337-8B17-B79ACA60A9C1}"/>
              </a:ext>
            </a:extLst>
          </p:cNvPr>
          <p:cNvPicPr>
            <a:picLocks noChangeAspect="1"/>
          </p:cNvPicPr>
          <p:nvPr/>
        </p:nvPicPr>
        <p:blipFill>
          <a:blip r:embed="rId3"/>
          <a:stretch>
            <a:fillRect/>
          </a:stretch>
        </p:blipFill>
        <p:spPr>
          <a:xfrm>
            <a:off x="733926" y="2136507"/>
            <a:ext cx="3194581" cy="3194581"/>
          </a:xfrm>
          <a:prstGeom prst="rect">
            <a:avLst/>
          </a:prstGeom>
        </p:spPr>
      </p:pic>
    </p:spTree>
    <p:custDataLst>
      <p:tags r:id="rId1"/>
    </p:custDataLst>
    <p:extLst>
      <p:ext uri="{BB962C8B-B14F-4D97-AF65-F5344CB8AC3E}">
        <p14:creationId xmlns:p14="http://schemas.microsoft.com/office/powerpoint/2010/main" xmlns="" val="155538542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8A676FB0-8465-86A8-332A-32CC35A5D2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12B7DC8D-244C-F7EC-5F66-ACB99A7D61C9}"/>
              </a:ext>
            </a:extLst>
          </p:cNvPr>
          <p:cNvSpPr>
            <a:spLocks noGrp="1"/>
          </p:cNvSpPr>
          <p:nvPr>
            <p:ph type="title"/>
          </p:nvPr>
        </p:nvSpPr>
        <p:spPr>
          <a:xfrm>
            <a:off x="770021" y="365125"/>
            <a:ext cx="7647865" cy="1325563"/>
          </a:xfrm>
        </p:spPr>
        <p:txBody>
          <a:bodyPr anchor="ctr">
            <a:normAutofit/>
          </a:bodyPr>
          <a:lstStyle/>
          <a:p>
            <a:r>
              <a:rPr lang="en-US" dirty="0"/>
              <a:t>INTRODUCTION</a:t>
            </a:r>
          </a:p>
        </p:txBody>
      </p:sp>
      <p:pic>
        <p:nvPicPr>
          <p:cNvPr id="3" name="Picture 2">
            <a:extLst>
              <a:ext uri="{FF2B5EF4-FFF2-40B4-BE49-F238E27FC236}">
                <a16:creationId xmlns:a16="http://schemas.microsoft.com/office/drawing/2014/main" xmlns="" id="{BBCC879F-E713-B75A-D2DE-0953EB0EA469}"/>
              </a:ext>
            </a:extLst>
          </p:cNvPr>
          <p:cNvPicPr>
            <a:picLocks noChangeAspect="1"/>
          </p:cNvPicPr>
          <p:nvPr/>
        </p:nvPicPr>
        <p:blipFill>
          <a:blip r:embed="rId3"/>
          <a:stretch>
            <a:fillRect/>
          </a:stretch>
        </p:blipFill>
        <p:spPr>
          <a:xfrm>
            <a:off x="994347" y="2262036"/>
            <a:ext cx="3054361" cy="3054361"/>
          </a:xfrm>
          <a:prstGeom prst="rect">
            <a:avLst/>
          </a:prstGeom>
        </p:spPr>
      </p:pic>
      <p:sp>
        <p:nvSpPr>
          <p:cNvPr id="4" name="Content Placeholder 2">
            <a:extLst>
              <a:ext uri="{FF2B5EF4-FFF2-40B4-BE49-F238E27FC236}">
                <a16:creationId xmlns:a16="http://schemas.microsoft.com/office/drawing/2014/main" xmlns="" id="{ED35578F-30C9-4905-FD4E-7366FEFAEA7F}"/>
              </a:ext>
            </a:extLst>
          </p:cNvPr>
          <p:cNvSpPr txBox="1">
            <a:spLocks/>
          </p:cNvSpPr>
          <p:nvPr/>
        </p:nvSpPr>
        <p:spPr>
          <a:xfrm>
            <a:off x="4048709" y="1407268"/>
            <a:ext cx="7305092" cy="531778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sz="1200" dirty="0"/>
              <a:t>The project is based on the </a:t>
            </a:r>
            <a:r>
              <a:rPr lang="en-US" sz="1200" b="1" dirty="0"/>
              <a:t>2019 Stack Overflow Developer Survey</a:t>
            </a:r>
            <a:r>
              <a:rPr lang="en-US" sz="1200" dirty="0"/>
              <a:t> and typically includes the following key findings:</a:t>
            </a:r>
            <a:endParaRPr lang="en-US" sz="1200" b="1" dirty="0"/>
          </a:p>
          <a:p>
            <a:r>
              <a:rPr lang="en-US" sz="1200" b="1" dirty="0"/>
              <a:t>1. Purpose of the Report</a:t>
            </a:r>
          </a:p>
          <a:p>
            <a:r>
              <a:rPr lang="en-US" sz="1200" dirty="0"/>
              <a:t>The primary purpose of this report is to provide a comprehensive, data-driven analysis of the global technology landscape to identify current and future industry trends. By analyzing large-scale datasets (primarily the Stack Overflow Developer Survey), the report seeks to:</a:t>
            </a:r>
          </a:p>
          <a:p>
            <a:r>
              <a:rPr lang="en-US" sz="1200" b="1" dirty="0"/>
              <a:t>Identify Skill Gaps:</a:t>
            </a:r>
            <a:r>
              <a:rPr lang="en-US" sz="1200" dirty="0"/>
              <a:t> Determine which programming languages and technologies are currently dominant and which are emerging as future industry standards.</a:t>
            </a:r>
          </a:p>
          <a:p>
            <a:r>
              <a:rPr lang="en-US" sz="1200" b="1" dirty="0"/>
              <a:t>Track Market Shifts:</a:t>
            </a:r>
            <a:r>
              <a:rPr lang="en-US" sz="1200" dirty="0"/>
              <a:t> Monitor the transition from traditional technologies (like relational databases) to modern paradigms (like NoSQL and Cloud-native platforms).</a:t>
            </a:r>
          </a:p>
          <a:p>
            <a:r>
              <a:rPr lang="en-US" sz="1200" b="1" dirty="0"/>
              <a:t>Analyze Demographics:</a:t>
            </a:r>
            <a:r>
              <a:rPr lang="en-US" sz="1200" dirty="0"/>
              <a:t> Understand the composition of the global developer workforce to address diversity, education, and experience levels.</a:t>
            </a:r>
          </a:p>
          <a:p>
            <a:r>
              <a:rPr lang="en-US" sz="1200" b="1" dirty="0"/>
              <a:t>2. Target Audience</a:t>
            </a:r>
          </a:p>
          <a:p>
            <a:r>
              <a:rPr lang="en-US" sz="1200" dirty="0"/>
              <a:t>The insights generated in this report are designed for stakeholders who need to make strategic decisions based on the direction of the IT industry:</a:t>
            </a:r>
          </a:p>
          <a:p>
            <a:r>
              <a:rPr lang="en-US" sz="1200" b="1" dirty="0"/>
              <a:t>Human Resources &amp; Recruiters:</a:t>
            </a:r>
            <a:r>
              <a:rPr lang="en-US" sz="1200" dirty="0"/>
              <a:t> To understand which skills are in high demand and how to structure competitive job offers and training programs.</a:t>
            </a:r>
          </a:p>
          <a:p>
            <a:r>
              <a:rPr lang="en-US" sz="1200" b="1" dirty="0"/>
              <a:t>CTOs and IT Managers:</a:t>
            </a:r>
            <a:r>
              <a:rPr lang="en-US" sz="1200" dirty="0"/>
              <a:t> To decide which technology stacks to adopt for new projects and where to allocate budget for infrastructure (e.g., Cloud services vs. On-premise).</a:t>
            </a:r>
          </a:p>
          <a:p>
            <a:r>
              <a:rPr lang="en-US" sz="1200" b="1" dirty="0"/>
              <a:t>Aspiring Data Analysts/Developers:</a:t>
            </a:r>
            <a:r>
              <a:rPr lang="en-US" sz="1200" dirty="0"/>
              <a:t> To identify which tools and languages (like Python, SQL, or MongoDB) they should learn to remain competitive in the job market.</a:t>
            </a:r>
          </a:p>
          <a:p>
            <a:r>
              <a:rPr lang="en-US" sz="1200" b="1" dirty="0"/>
              <a:t>Educational Institutions:</a:t>
            </a:r>
            <a:r>
              <a:rPr lang="en-US" sz="1200" dirty="0"/>
              <a:t> To align their curriculum with the actual needs of the tech industry</a:t>
            </a:r>
          </a:p>
        </p:txBody>
      </p:sp>
    </p:spTree>
    <p:custDataLst>
      <p:tags r:id="rId1"/>
    </p:custDataLst>
    <p:extLst>
      <p:ext uri="{BB962C8B-B14F-4D97-AF65-F5344CB8AC3E}">
        <p14:creationId xmlns:p14="http://schemas.microsoft.com/office/powerpoint/2010/main" xmlns="" val="204086333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305E3033-3CE2-02C9-B4DA-35784D2DC4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50747544-4F15-8652-0619-A1AFF0718B7D}"/>
              </a:ext>
            </a:extLst>
          </p:cNvPr>
          <p:cNvSpPr>
            <a:spLocks noGrp="1"/>
          </p:cNvSpPr>
          <p:nvPr>
            <p:ph type="title"/>
          </p:nvPr>
        </p:nvSpPr>
        <p:spPr>
          <a:xfrm>
            <a:off x="770021" y="365125"/>
            <a:ext cx="7647865" cy="1325563"/>
          </a:xfrm>
        </p:spPr>
        <p:txBody>
          <a:bodyPr anchor="ctr">
            <a:normAutofit/>
          </a:bodyPr>
          <a:lstStyle/>
          <a:p>
            <a:r>
              <a:rPr lang="en-US" dirty="0"/>
              <a:t>INTRODUCTION</a:t>
            </a:r>
          </a:p>
        </p:txBody>
      </p:sp>
      <p:pic>
        <p:nvPicPr>
          <p:cNvPr id="3" name="Picture 2">
            <a:extLst>
              <a:ext uri="{FF2B5EF4-FFF2-40B4-BE49-F238E27FC236}">
                <a16:creationId xmlns:a16="http://schemas.microsoft.com/office/drawing/2014/main" xmlns="" id="{83EC9398-CBB8-EB7B-7027-1E4938E8CD99}"/>
              </a:ext>
            </a:extLst>
          </p:cNvPr>
          <p:cNvPicPr>
            <a:picLocks noChangeAspect="1"/>
          </p:cNvPicPr>
          <p:nvPr/>
        </p:nvPicPr>
        <p:blipFill>
          <a:blip r:embed="rId3"/>
          <a:stretch>
            <a:fillRect/>
          </a:stretch>
        </p:blipFill>
        <p:spPr>
          <a:xfrm>
            <a:off x="994347" y="2262036"/>
            <a:ext cx="3054361" cy="3054361"/>
          </a:xfrm>
          <a:prstGeom prst="rect">
            <a:avLst/>
          </a:prstGeom>
        </p:spPr>
      </p:pic>
      <p:sp>
        <p:nvSpPr>
          <p:cNvPr id="4" name="Content Placeholder 2">
            <a:extLst>
              <a:ext uri="{FF2B5EF4-FFF2-40B4-BE49-F238E27FC236}">
                <a16:creationId xmlns:a16="http://schemas.microsoft.com/office/drawing/2014/main" xmlns="" id="{3D996BBE-7732-FC2C-BCA0-432CD52D5C54}"/>
              </a:ext>
            </a:extLst>
          </p:cNvPr>
          <p:cNvSpPr txBox="1">
            <a:spLocks/>
          </p:cNvSpPr>
          <p:nvPr/>
        </p:nvSpPr>
        <p:spPr>
          <a:xfrm>
            <a:off x="4048709" y="1648918"/>
            <a:ext cx="7305092" cy="509112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sz="1400" b="1" dirty="0"/>
              <a:t>3. Value of the Analysis</a:t>
            </a:r>
          </a:p>
          <a:p>
            <a:r>
              <a:rPr lang="en-US" sz="1400" dirty="0"/>
              <a:t>The value of this project lies in transforming raw, unstructured survey data into actionable business intelligence. Key value drivers include:</a:t>
            </a:r>
          </a:p>
          <a:p>
            <a:r>
              <a:rPr lang="en-US" sz="1400" b="1" dirty="0"/>
              <a:t>Future-Proofing:</a:t>
            </a:r>
            <a:r>
              <a:rPr lang="en-US" sz="1400" dirty="0"/>
              <a:t> By identifying "Wanted" vs. "Worked With" technologies, the analysis predicts future market dominance. For example, seeing the high "want" for </a:t>
            </a:r>
            <a:r>
              <a:rPr lang="en-US" sz="1400" b="1" dirty="0"/>
              <a:t>Python</a:t>
            </a:r>
            <a:r>
              <a:rPr lang="en-US" sz="1400" dirty="0"/>
              <a:t> and </a:t>
            </a:r>
            <a:r>
              <a:rPr lang="en-US" sz="1400" b="1" dirty="0"/>
              <a:t>PostgreSQL</a:t>
            </a:r>
            <a:r>
              <a:rPr lang="en-US" sz="1400" dirty="0"/>
              <a:t> allows companies to begin transitioning before their current tech becomes obsolete.</a:t>
            </a:r>
          </a:p>
          <a:p>
            <a:r>
              <a:rPr lang="en-US" sz="1400" b="1" dirty="0"/>
              <a:t>Strategic Recruitment:</a:t>
            </a:r>
            <a:r>
              <a:rPr lang="en-US" sz="1400" dirty="0"/>
              <a:t> The demographic analysis provides a benchmark for diversity and salary expectations. Knowing that the majority of the workforce is in a specific age or education bracket helps companies tailor their culture and benefits.</a:t>
            </a:r>
          </a:p>
          <a:p>
            <a:r>
              <a:rPr lang="en-US" sz="1400" b="1" dirty="0"/>
              <a:t>Cost Efficiency:</a:t>
            </a:r>
            <a:r>
              <a:rPr lang="en-US" sz="1400" dirty="0"/>
              <a:t> By understanding platform trends (such as the shift toward specific Cloud providers), organizations can avoid investing in legacy systems that lack community support or developer interest.</a:t>
            </a:r>
          </a:p>
          <a:p>
            <a:r>
              <a:rPr lang="en-US" sz="1400" b="1" dirty="0"/>
              <a:t>Data Integrity:</a:t>
            </a:r>
            <a:r>
              <a:rPr lang="en-US" sz="1400" dirty="0"/>
              <a:t> The project demonstrates the value of the </a:t>
            </a:r>
            <a:r>
              <a:rPr lang="en-US" sz="1400" b="1" dirty="0"/>
              <a:t>Data Analytics Lifecycle</a:t>
            </a:r>
            <a:r>
              <a:rPr lang="en-US" sz="1400" dirty="0"/>
              <a:t>—from scraping and cleaning data to visualizing it—ensuring that the conclusions are based on verified, "tidy" data rather than gut feeling</a:t>
            </a:r>
            <a:r>
              <a:rPr lang="en-US" sz="1200" dirty="0"/>
              <a:t>.</a:t>
            </a:r>
          </a:p>
        </p:txBody>
      </p:sp>
    </p:spTree>
    <p:custDataLst>
      <p:tags r:id="rId1"/>
    </p:custDataLst>
    <p:extLst>
      <p:ext uri="{BB962C8B-B14F-4D97-AF65-F5344CB8AC3E}">
        <p14:creationId xmlns:p14="http://schemas.microsoft.com/office/powerpoint/2010/main" xmlns="" val="385535731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CB11DCFD-8450-17AD-05D4-229BA1C66C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385AB7E7-7534-10CB-A359-88015C285B97}"/>
              </a:ext>
            </a:extLst>
          </p:cNvPr>
          <p:cNvSpPr>
            <a:spLocks noGrp="1"/>
          </p:cNvSpPr>
          <p:nvPr>
            <p:ph type="title"/>
          </p:nvPr>
        </p:nvSpPr>
        <p:spPr>
          <a:xfrm>
            <a:off x="782053" y="681037"/>
            <a:ext cx="10571747" cy="685799"/>
          </a:xfrm>
        </p:spPr>
        <p:txBody>
          <a:bodyPr anchor="ctr">
            <a:normAutofit/>
          </a:bodyPr>
          <a:lstStyle/>
          <a:p>
            <a:r>
              <a:rPr lang="en-US" dirty="0"/>
              <a:t>METHODOLOGY</a:t>
            </a:r>
          </a:p>
        </p:txBody>
      </p:sp>
      <p:sp>
        <p:nvSpPr>
          <p:cNvPr id="3" name="Content Placeholder 2">
            <a:extLst>
              <a:ext uri="{FF2B5EF4-FFF2-40B4-BE49-F238E27FC236}">
                <a16:creationId xmlns:a16="http://schemas.microsoft.com/office/drawing/2014/main" xmlns="" id="{5EF8C842-232A-AE37-3471-90353781809D}"/>
              </a:ext>
            </a:extLst>
          </p:cNvPr>
          <p:cNvSpPr txBox="1">
            <a:spLocks/>
          </p:cNvSpPr>
          <p:nvPr/>
        </p:nvSpPr>
        <p:spPr>
          <a:xfrm>
            <a:off x="4285075" y="2159539"/>
            <a:ext cx="7068725" cy="387195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sz="1400" b="1" dirty="0">
                <a:solidFill>
                  <a:srgbClr val="0072C3"/>
                </a:solidFill>
              </a:rPr>
              <a:t>Methodology Used in the Project</a:t>
            </a:r>
          </a:p>
          <a:p>
            <a:r>
              <a:rPr lang="en-US" sz="1400" dirty="0">
                <a:solidFill>
                  <a:srgbClr val="0072C3"/>
                </a:solidFill>
              </a:rPr>
              <a:t>To arrive at these insights, the project follows a standard data analytics lifecycle:</a:t>
            </a:r>
          </a:p>
          <a:p>
            <a:r>
              <a:rPr lang="en-US" sz="1400" b="1" dirty="0">
                <a:solidFill>
                  <a:srgbClr val="0072C3"/>
                </a:solidFill>
              </a:rPr>
              <a:t>Data Collection:</a:t>
            </a:r>
            <a:r>
              <a:rPr lang="en-US" sz="1400" dirty="0">
                <a:solidFill>
                  <a:srgbClr val="0072C3"/>
                </a:solidFill>
              </a:rPr>
              <a:t> Gathering data through APIs and Web Scraping.</a:t>
            </a:r>
          </a:p>
          <a:p>
            <a:r>
              <a:rPr lang="en-US" sz="1400" b="1" dirty="0">
                <a:solidFill>
                  <a:srgbClr val="0072C3"/>
                </a:solidFill>
              </a:rPr>
              <a:t>Data Wrangling:</a:t>
            </a:r>
            <a:r>
              <a:rPr lang="en-US" sz="1400" dirty="0">
                <a:solidFill>
                  <a:srgbClr val="0072C3"/>
                </a:solidFill>
              </a:rPr>
              <a:t> Cleaning the dataset by removing duplicates, handling missing values, and normalizing salary data.</a:t>
            </a:r>
          </a:p>
          <a:p>
            <a:r>
              <a:rPr lang="en-US" sz="1400" b="1" dirty="0">
                <a:solidFill>
                  <a:srgbClr val="0072C3"/>
                </a:solidFill>
              </a:rPr>
              <a:t>Exploratory Data Analysis (EDA):</a:t>
            </a:r>
            <a:r>
              <a:rPr lang="en-US" sz="1400" dirty="0">
                <a:solidFill>
                  <a:srgbClr val="0072C3"/>
                </a:solidFill>
              </a:rPr>
              <a:t> Using SQL and Python (Pandas/Matplotlib) to find correlations and distributions.</a:t>
            </a:r>
          </a:p>
          <a:p>
            <a:r>
              <a:rPr lang="en-US" sz="1400" b="1" dirty="0">
                <a:solidFill>
                  <a:srgbClr val="0072C3"/>
                </a:solidFill>
              </a:rPr>
              <a:t>Interactive Dashboards:</a:t>
            </a:r>
            <a:r>
              <a:rPr lang="en-US" sz="1400" dirty="0">
                <a:solidFill>
                  <a:srgbClr val="0072C3"/>
                </a:solidFill>
              </a:rPr>
              <a:t> Building visual reports using </a:t>
            </a:r>
            <a:r>
              <a:rPr lang="en-US" sz="1400" b="1" dirty="0">
                <a:solidFill>
                  <a:srgbClr val="0072C3"/>
                </a:solidFill>
              </a:rPr>
              <a:t>IBM Cognos Analytics</a:t>
            </a:r>
            <a:r>
              <a:rPr lang="en-US" sz="1400" dirty="0">
                <a:solidFill>
                  <a:srgbClr val="0072C3"/>
                </a:solidFill>
              </a:rPr>
              <a:t> to present findings to stakeholders.</a:t>
            </a:r>
          </a:p>
          <a:p>
            <a:pPr lvl="1"/>
            <a:endParaRPr lang="en-US" sz="2200" dirty="0"/>
          </a:p>
        </p:txBody>
      </p:sp>
      <p:pic>
        <p:nvPicPr>
          <p:cNvPr id="4" name="Picture 3">
            <a:extLst>
              <a:ext uri="{FF2B5EF4-FFF2-40B4-BE49-F238E27FC236}">
                <a16:creationId xmlns:a16="http://schemas.microsoft.com/office/drawing/2014/main" xmlns="" id="{280CF71F-8A03-DAC7-4BC2-F05644ECBFFF}"/>
              </a:ext>
            </a:extLst>
          </p:cNvPr>
          <p:cNvPicPr>
            <a:picLocks noChangeAspect="1"/>
          </p:cNvPicPr>
          <p:nvPr/>
        </p:nvPicPr>
        <p:blipFill>
          <a:blip r:embed="rId3"/>
          <a:stretch>
            <a:fillRect/>
          </a:stretch>
        </p:blipFill>
        <p:spPr>
          <a:xfrm>
            <a:off x="979655" y="1831709"/>
            <a:ext cx="3194581" cy="3194581"/>
          </a:xfrm>
          <a:prstGeom prst="rect">
            <a:avLst/>
          </a:prstGeom>
        </p:spPr>
      </p:pic>
    </p:spTree>
    <p:custDataLst>
      <p:tags r:id="rId1"/>
    </p:custDataLst>
    <p:extLst>
      <p:ext uri="{BB962C8B-B14F-4D97-AF65-F5344CB8AC3E}">
        <p14:creationId xmlns:p14="http://schemas.microsoft.com/office/powerpoint/2010/main" xmlns="" val="379169251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42947B35-92B8-C737-3DEB-4A57887A19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ED09CC39-D393-D59D-E066-37C17FD3C522}"/>
              </a:ext>
            </a:extLst>
          </p:cNvPr>
          <p:cNvSpPr>
            <a:spLocks noGrp="1"/>
          </p:cNvSpPr>
          <p:nvPr>
            <p:ph type="title"/>
          </p:nvPr>
        </p:nvSpPr>
        <p:spPr>
          <a:xfrm>
            <a:off x="782053" y="398033"/>
            <a:ext cx="10571747" cy="1091735"/>
          </a:xfrm>
        </p:spPr>
        <p:txBody>
          <a:bodyPr anchor="ctr">
            <a:normAutofit/>
          </a:bodyPr>
          <a:lstStyle/>
          <a:p>
            <a:r>
              <a:rPr lang="en-US" dirty="0"/>
              <a:t>Results</a:t>
            </a:r>
          </a:p>
        </p:txBody>
      </p:sp>
      <p:sp>
        <p:nvSpPr>
          <p:cNvPr id="3" name="Content Placeholder 2">
            <a:extLst>
              <a:ext uri="{FF2B5EF4-FFF2-40B4-BE49-F238E27FC236}">
                <a16:creationId xmlns:a16="http://schemas.microsoft.com/office/drawing/2014/main" xmlns="" id="{E000DDB6-5B82-F3F8-80C1-FE555825BAF5}"/>
              </a:ext>
            </a:extLst>
          </p:cNvPr>
          <p:cNvSpPr txBox="1">
            <a:spLocks/>
          </p:cNvSpPr>
          <p:nvPr/>
        </p:nvSpPr>
        <p:spPr>
          <a:xfrm>
            <a:off x="4285075" y="1680153"/>
            <a:ext cx="7068725"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endParaRPr lang="en-US" sz="2200" dirty="0"/>
          </a:p>
        </p:txBody>
      </p:sp>
      <p:pic>
        <p:nvPicPr>
          <p:cNvPr id="6" name="Graphic 5" descr="Presentation with pie chart with solid fill">
            <a:extLst>
              <a:ext uri="{FF2B5EF4-FFF2-40B4-BE49-F238E27FC236}">
                <a16:creationId xmlns:a16="http://schemas.microsoft.com/office/drawing/2014/main" xmlns="" id="{1D5615A7-55B9-E0F5-0A84-57A35A57B055}"/>
              </a:ext>
            </a:extLst>
          </p:cNvPr>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469468" y="2101175"/>
            <a:ext cx="2972979" cy="2972979"/>
          </a:xfrm>
          <a:prstGeom prst="rect">
            <a:avLst/>
          </a:prstGeom>
        </p:spPr>
      </p:pic>
    </p:spTree>
    <p:custDataLst>
      <p:tags r:id="rId1"/>
    </p:custDataLst>
    <p:extLst>
      <p:ext uri="{BB962C8B-B14F-4D97-AF65-F5344CB8AC3E}">
        <p14:creationId xmlns:p14="http://schemas.microsoft.com/office/powerpoint/2010/main" xmlns="" val="150132746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F1FC4E31-32FC-4A23-CEF9-98F0BB9F13E9}"/>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xmlns="" id="{8334EF5D-2E2A-7FE5-06C6-01ACAB1F420F}"/>
              </a:ext>
            </a:extLst>
          </p:cNvPr>
          <p:cNvSpPr>
            <a:spLocks noGrp="1"/>
          </p:cNvSpPr>
          <p:nvPr>
            <p:ph type="title"/>
          </p:nvPr>
        </p:nvSpPr>
        <p:spPr>
          <a:xfrm>
            <a:off x="633845" y="383051"/>
            <a:ext cx="5833456" cy="1325563"/>
          </a:xfrm>
        </p:spPr>
        <p:txBody>
          <a:bodyPr anchor="ctr">
            <a:normAutofit/>
          </a:bodyPr>
          <a:lstStyle/>
          <a:p>
            <a:r>
              <a:rPr lang="en-US" dirty="0"/>
              <a:t> JOB POSTINGS</a:t>
            </a:r>
          </a:p>
        </p:txBody>
      </p:sp>
      <p:sp>
        <p:nvSpPr>
          <p:cNvPr id="10" name="Content Placeholder 2">
            <a:extLst>
              <a:ext uri="{FF2B5EF4-FFF2-40B4-BE49-F238E27FC236}">
                <a16:creationId xmlns:a16="http://schemas.microsoft.com/office/drawing/2014/main" xmlns="" id="{83F79416-0AFB-FC80-07E8-3CF2B4E7E798}"/>
              </a:ext>
            </a:extLst>
          </p:cNvPr>
          <p:cNvSpPr txBox="1">
            <a:spLocks/>
          </p:cNvSpPr>
          <p:nvPr/>
        </p:nvSpPr>
        <p:spPr>
          <a:xfrm>
            <a:off x="739302" y="1543455"/>
            <a:ext cx="10664374" cy="467576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Font typeface="Arial"/>
              <a:buNone/>
            </a:pPr>
            <a:endParaRPr lang="en-US" sz="2200" dirty="0"/>
          </a:p>
        </p:txBody>
      </p:sp>
      <p:graphicFrame>
        <p:nvGraphicFramePr>
          <p:cNvPr id="4" name="Chart 3">
            <a:extLst>
              <a:ext uri="{FF2B5EF4-FFF2-40B4-BE49-F238E27FC236}">
                <a16:creationId xmlns:a16="http://schemas.microsoft.com/office/drawing/2014/main" xmlns="" id="{3F30E9AF-11F7-4152-11D8-34277A622687}"/>
              </a:ext>
            </a:extLst>
          </p:cNvPr>
          <p:cNvGraphicFramePr>
            <a:graphicFrameLocks/>
          </p:cNvGraphicFramePr>
          <p:nvPr>
            <p:extLst>
              <p:ext uri="{D42A27DB-BD31-4B8C-83A1-F6EECF244321}">
                <p14:modId xmlns:p14="http://schemas.microsoft.com/office/powerpoint/2010/main" xmlns="" val="4214824740"/>
              </p:ext>
            </p:extLst>
          </p:nvPr>
        </p:nvGraphicFramePr>
        <p:xfrm>
          <a:off x="2098675" y="1546225"/>
          <a:ext cx="7994650" cy="3765550"/>
        </p:xfrm>
        <a:graphic>
          <a:graphicData uri="http://schemas.openxmlformats.org/drawingml/2006/chart">
            <c:chart xmlns:c="http://schemas.openxmlformats.org/drawingml/2006/chart" xmlns:r="http://schemas.openxmlformats.org/officeDocument/2006/relationships" r:id="rId3"/>
          </a:graphicData>
        </a:graphic>
      </p:graphicFrame>
    </p:spTree>
    <p:custDataLst>
      <p:tags r:id="rId1"/>
    </p:custDataLst>
    <p:extLst>
      <p:ext uri="{BB962C8B-B14F-4D97-AF65-F5344CB8AC3E}">
        <p14:creationId xmlns:p14="http://schemas.microsoft.com/office/powerpoint/2010/main" xmlns="" val="193537382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D16DB558-7141-B0CE-D399-712C1073BFD7}"/>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xmlns="" id="{12CF5900-71B3-70B0-7CF1-4A1C535AD04B}"/>
              </a:ext>
            </a:extLst>
          </p:cNvPr>
          <p:cNvSpPr>
            <a:spLocks noGrp="1"/>
          </p:cNvSpPr>
          <p:nvPr>
            <p:ph type="title"/>
          </p:nvPr>
        </p:nvSpPr>
        <p:spPr>
          <a:xfrm>
            <a:off x="758536" y="383051"/>
            <a:ext cx="7501044" cy="1325563"/>
          </a:xfrm>
        </p:spPr>
        <p:txBody>
          <a:bodyPr anchor="ctr">
            <a:normAutofit/>
          </a:bodyPr>
          <a:lstStyle/>
          <a:p>
            <a:r>
              <a:rPr lang="en-US" dirty="0"/>
              <a:t>POPULAR LANGUAGES</a:t>
            </a:r>
          </a:p>
        </p:txBody>
      </p:sp>
      <p:sp>
        <p:nvSpPr>
          <p:cNvPr id="7" name="Content Placeholder 2">
            <a:extLst>
              <a:ext uri="{FF2B5EF4-FFF2-40B4-BE49-F238E27FC236}">
                <a16:creationId xmlns:a16="http://schemas.microsoft.com/office/drawing/2014/main" xmlns="" id="{95B1AABA-34AF-B1F5-3C7F-11AEB9E03637}"/>
              </a:ext>
            </a:extLst>
          </p:cNvPr>
          <p:cNvSpPr txBox="1">
            <a:spLocks/>
          </p:cNvSpPr>
          <p:nvPr/>
        </p:nvSpPr>
        <p:spPr>
          <a:xfrm>
            <a:off x="612415" y="2710776"/>
            <a:ext cx="10555159" cy="349771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Font typeface="Arial"/>
              <a:buNone/>
            </a:pPr>
            <a:endParaRPr lang="en-US" sz="2200" dirty="0"/>
          </a:p>
        </p:txBody>
      </p:sp>
      <p:graphicFrame>
        <p:nvGraphicFramePr>
          <p:cNvPr id="4" name="Chart 3">
            <a:extLst>
              <a:ext uri="{FF2B5EF4-FFF2-40B4-BE49-F238E27FC236}">
                <a16:creationId xmlns:a16="http://schemas.microsoft.com/office/drawing/2014/main" xmlns="" id="{73BBC72B-3DF0-B675-2014-002E672F1E8F}"/>
              </a:ext>
            </a:extLst>
          </p:cNvPr>
          <p:cNvGraphicFramePr>
            <a:graphicFrameLocks/>
          </p:cNvGraphicFramePr>
          <p:nvPr>
            <p:extLst>
              <p:ext uri="{D42A27DB-BD31-4B8C-83A1-F6EECF244321}">
                <p14:modId xmlns:p14="http://schemas.microsoft.com/office/powerpoint/2010/main" xmlns="" val="619264827"/>
              </p:ext>
            </p:extLst>
          </p:nvPr>
        </p:nvGraphicFramePr>
        <p:xfrm>
          <a:off x="3201986" y="1495425"/>
          <a:ext cx="6175477" cy="4198498"/>
        </p:xfrm>
        <a:graphic>
          <a:graphicData uri="http://schemas.openxmlformats.org/drawingml/2006/chart">
            <c:chart xmlns:c="http://schemas.openxmlformats.org/drawingml/2006/chart" xmlns:r="http://schemas.openxmlformats.org/officeDocument/2006/relationships" r:id="rId3"/>
          </a:graphicData>
        </a:graphic>
      </p:graphicFrame>
    </p:spTree>
    <p:custDataLst>
      <p:tags r:id="rId1"/>
    </p:custDataLst>
    <p:extLst>
      <p:ext uri="{BB962C8B-B14F-4D97-AF65-F5344CB8AC3E}">
        <p14:creationId xmlns:p14="http://schemas.microsoft.com/office/powerpoint/2010/main" xmlns="" val="194590253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DCE27A2E-C667-F6D3-A1E3-47F70603EABA}"/>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xmlns="" id="{5539A591-4DF0-3912-FF72-3FD0BD7B9C1F}"/>
              </a:ext>
            </a:extLst>
          </p:cNvPr>
          <p:cNvSpPr>
            <a:spLocks noGrp="1"/>
          </p:cNvSpPr>
          <p:nvPr>
            <p:ph type="title"/>
          </p:nvPr>
        </p:nvSpPr>
        <p:spPr/>
        <p:txBody>
          <a:bodyPr/>
          <a:lstStyle/>
          <a:p>
            <a:r>
              <a:rPr lang="en-US" dirty="0"/>
              <a:t>PROGRAMMING LANGUAGE TRENDS</a:t>
            </a:r>
          </a:p>
        </p:txBody>
      </p:sp>
      <p:sp>
        <p:nvSpPr>
          <p:cNvPr id="8" name="Content Placeholder 2">
            <a:extLst>
              <a:ext uri="{FF2B5EF4-FFF2-40B4-BE49-F238E27FC236}">
                <a16:creationId xmlns:a16="http://schemas.microsoft.com/office/drawing/2014/main" xmlns="" id="{54B8C8AD-F58A-1F17-9CA2-E737E1949923}"/>
              </a:ext>
            </a:extLst>
          </p:cNvPr>
          <p:cNvSpPr>
            <a:spLocks noGrp="1"/>
          </p:cNvSpPr>
          <p:nvPr>
            <p:ph sz="half" idx="1"/>
          </p:nvPr>
        </p:nvSpPr>
        <p:spPr>
          <a:xfrm>
            <a:off x="924305" y="2063170"/>
            <a:ext cx="2228642" cy="501939"/>
          </a:xfrm>
        </p:spPr>
        <p:txBody>
          <a:bodyPr/>
          <a:lstStyle/>
          <a:p>
            <a:pPr marL="0" indent="0">
              <a:buNone/>
            </a:pPr>
            <a:r>
              <a:rPr lang="en-US" dirty="0"/>
              <a:t>Current Year</a:t>
            </a:r>
          </a:p>
        </p:txBody>
      </p:sp>
      <p:sp>
        <p:nvSpPr>
          <p:cNvPr id="10" name="Content Placeholder 2">
            <a:extLst>
              <a:ext uri="{FF2B5EF4-FFF2-40B4-BE49-F238E27FC236}">
                <a16:creationId xmlns:a16="http://schemas.microsoft.com/office/drawing/2014/main" xmlns="" id="{2DFAC5CF-1B58-ABB4-D63B-1D931D572459}"/>
              </a:ext>
            </a:extLst>
          </p:cNvPr>
          <p:cNvSpPr txBox="1">
            <a:spLocks/>
          </p:cNvSpPr>
          <p:nvPr/>
        </p:nvSpPr>
        <p:spPr>
          <a:xfrm>
            <a:off x="845473" y="2605804"/>
            <a:ext cx="4614949" cy="367030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endParaRPr lang="en-US" sz="2200" dirty="0">
              <a:solidFill>
                <a:schemeClr val="tx1"/>
              </a:solidFill>
            </a:endParaRPr>
          </a:p>
        </p:txBody>
      </p:sp>
      <p:sp>
        <p:nvSpPr>
          <p:cNvPr id="11" name="Content Placeholder 2">
            <a:extLst>
              <a:ext uri="{FF2B5EF4-FFF2-40B4-BE49-F238E27FC236}">
                <a16:creationId xmlns:a16="http://schemas.microsoft.com/office/drawing/2014/main" xmlns="" id="{FBAA9DB0-9EAC-9B25-C7F3-3CE83758128E}"/>
              </a:ext>
            </a:extLst>
          </p:cNvPr>
          <p:cNvSpPr txBox="1">
            <a:spLocks/>
          </p:cNvSpPr>
          <p:nvPr/>
        </p:nvSpPr>
        <p:spPr>
          <a:xfrm>
            <a:off x="6172200" y="2605804"/>
            <a:ext cx="4614949" cy="367030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endParaRPr lang="en-US" sz="2200" dirty="0">
              <a:solidFill>
                <a:schemeClr val="tx1"/>
              </a:solidFill>
            </a:endParaRPr>
          </a:p>
        </p:txBody>
      </p:sp>
      <p:sp>
        <p:nvSpPr>
          <p:cNvPr id="3" name="TextBox 2">
            <a:extLst>
              <a:ext uri="{FF2B5EF4-FFF2-40B4-BE49-F238E27FC236}">
                <a16:creationId xmlns:a16="http://schemas.microsoft.com/office/drawing/2014/main" xmlns="" id="{551C5862-9AB9-9679-23B5-A950E973AFB5}"/>
              </a:ext>
            </a:extLst>
          </p:cNvPr>
          <p:cNvSpPr txBox="1"/>
          <p:nvPr/>
        </p:nvSpPr>
        <p:spPr>
          <a:xfrm>
            <a:off x="924305" y="1475244"/>
            <a:ext cx="10429495" cy="461665"/>
          </a:xfrm>
          <a:prstGeom prst="rect">
            <a:avLst/>
          </a:prstGeom>
          <a:noFill/>
        </p:spPr>
        <p:txBody>
          <a:bodyPr wrap="square" rtlCol="0">
            <a:spAutoFit/>
          </a:bodyPr>
          <a:lstStyle/>
          <a:p>
            <a:r>
              <a:rPr lang="en-US" sz="2400" dirty="0"/>
              <a:t>Summarize key trends shown in the charts.</a:t>
            </a:r>
          </a:p>
        </p:txBody>
      </p:sp>
      <p:sp>
        <p:nvSpPr>
          <p:cNvPr id="12" name="TextBox 11">
            <a:extLst>
              <a:ext uri="{FF2B5EF4-FFF2-40B4-BE49-F238E27FC236}">
                <a16:creationId xmlns:a16="http://schemas.microsoft.com/office/drawing/2014/main" xmlns="" id="{494ABB84-B533-37C5-7AAA-672D16F2A3C5}"/>
              </a:ext>
            </a:extLst>
          </p:cNvPr>
          <p:cNvSpPr txBox="1"/>
          <p:nvPr/>
        </p:nvSpPr>
        <p:spPr>
          <a:xfrm>
            <a:off x="6776936" y="2068071"/>
            <a:ext cx="1997413" cy="523220"/>
          </a:xfrm>
          <a:prstGeom prst="rect">
            <a:avLst/>
          </a:prstGeom>
          <a:noFill/>
        </p:spPr>
        <p:txBody>
          <a:bodyPr wrap="square" rtlCol="0">
            <a:spAutoFit/>
          </a:bodyPr>
          <a:lstStyle/>
          <a:p>
            <a:r>
              <a:rPr lang="en-US" sz="2800" dirty="0"/>
              <a:t>Next Year</a:t>
            </a:r>
            <a:endParaRPr lang="en-IN" sz="2800" dirty="0"/>
          </a:p>
        </p:txBody>
      </p:sp>
      <p:pic>
        <p:nvPicPr>
          <p:cNvPr id="14" name="Picture 13" descr="2026-03-31 (31).png"/>
          <p:cNvPicPr>
            <a:picLocks noChangeAspect="1"/>
          </p:cNvPicPr>
          <p:nvPr/>
        </p:nvPicPr>
        <p:blipFill>
          <a:blip r:embed="rId3"/>
          <a:stretch>
            <a:fillRect/>
          </a:stretch>
        </p:blipFill>
        <p:spPr>
          <a:xfrm>
            <a:off x="1195418" y="2552355"/>
            <a:ext cx="4604508" cy="3503671"/>
          </a:xfrm>
          <a:prstGeom prst="rect">
            <a:avLst/>
          </a:prstGeom>
        </p:spPr>
      </p:pic>
      <p:pic>
        <p:nvPicPr>
          <p:cNvPr id="15" name="Picture 14" descr="languagewnttoworkwith.png"/>
          <p:cNvPicPr>
            <a:picLocks noChangeAspect="1"/>
          </p:cNvPicPr>
          <p:nvPr/>
        </p:nvPicPr>
        <p:blipFill>
          <a:blip r:embed="rId4"/>
          <a:stretch>
            <a:fillRect/>
          </a:stretch>
        </p:blipFill>
        <p:spPr>
          <a:xfrm>
            <a:off x="6608292" y="2540229"/>
            <a:ext cx="4589359" cy="3489672"/>
          </a:xfrm>
          <a:prstGeom prst="rect">
            <a:avLst/>
          </a:prstGeom>
        </p:spPr>
      </p:pic>
    </p:spTree>
    <p:custDataLst>
      <p:tags r:id="rId1"/>
    </p:custDataLst>
    <p:extLst>
      <p:ext uri="{BB962C8B-B14F-4D97-AF65-F5344CB8AC3E}">
        <p14:creationId xmlns:p14="http://schemas.microsoft.com/office/powerpoint/2010/main" xmlns="" val="368446740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D707BF14-48B4-018D-63EE-DF24A5A8CF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94444DA4-C4B2-2A92-8A96-C527D8D026A7}"/>
              </a:ext>
            </a:extLst>
          </p:cNvPr>
          <p:cNvSpPr>
            <a:spLocks noGrp="1"/>
          </p:cNvSpPr>
          <p:nvPr>
            <p:ph type="title"/>
          </p:nvPr>
        </p:nvSpPr>
        <p:spPr>
          <a:xfrm>
            <a:off x="613065" y="218209"/>
            <a:ext cx="11471562" cy="1330037"/>
          </a:xfrm>
        </p:spPr>
        <p:txBody>
          <a:bodyPr>
            <a:noAutofit/>
          </a:bodyPr>
          <a:lstStyle/>
          <a:p>
            <a:r>
              <a:rPr lang="en-US" dirty="0"/>
              <a:t>PROGRAMMING LANGUAGE TRENDS - FINDINGS &amp; IMPLICATIONS</a:t>
            </a:r>
          </a:p>
        </p:txBody>
      </p:sp>
      <p:sp>
        <p:nvSpPr>
          <p:cNvPr id="3" name="Content Placeholder 2">
            <a:extLst>
              <a:ext uri="{FF2B5EF4-FFF2-40B4-BE49-F238E27FC236}">
                <a16:creationId xmlns:a16="http://schemas.microsoft.com/office/drawing/2014/main" xmlns="" id="{0E85DDBB-31B7-4F81-1E76-90009348F1DE}"/>
              </a:ext>
            </a:extLst>
          </p:cNvPr>
          <p:cNvSpPr>
            <a:spLocks noGrp="1"/>
          </p:cNvSpPr>
          <p:nvPr>
            <p:ph sz="half" idx="1"/>
          </p:nvPr>
        </p:nvSpPr>
        <p:spPr>
          <a:xfrm>
            <a:off x="813816" y="1825625"/>
            <a:ext cx="5181600" cy="4351338"/>
          </a:xfrm>
        </p:spPr>
        <p:txBody>
          <a:bodyPr>
            <a:normAutofit fontScale="32500" lnSpcReduction="20000"/>
          </a:bodyPr>
          <a:lstStyle/>
          <a:p>
            <a:pPr marL="0" indent="0">
              <a:buNone/>
            </a:pPr>
            <a:r>
              <a:rPr lang="en-US" dirty="0"/>
              <a:t>Findings</a:t>
            </a:r>
          </a:p>
          <a:p>
            <a:pPr marL="0" indent="0">
              <a:buNone/>
            </a:pPr>
            <a:endParaRPr lang="en-US" dirty="0"/>
          </a:p>
          <a:p>
            <a:r>
              <a:rPr lang="en-US" sz="3700" b="1" dirty="0" smtClean="0"/>
              <a:t>Top 10 Platforms Have Worked With (from executed code):</a:t>
            </a:r>
            <a:endParaRPr lang="en-US" sz="3700" dirty="0" smtClean="0"/>
          </a:p>
          <a:p>
            <a:pPr lvl="1"/>
            <a:r>
              <a:rPr lang="en-US" sz="3700" b="1" dirty="0" smtClean="0"/>
              <a:t>Amazon Web Services (AWS)</a:t>
            </a:r>
            <a:r>
              <a:rPr lang="en-US" sz="3700" dirty="0" smtClean="0"/>
              <a:t> is the most widely used platform among the respondents by a significant margin (600 counts).</a:t>
            </a:r>
          </a:p>
          <a:p>
            <a:pPr lvl="1"/>
            <a:r>
              <a:rPr lang="en-US" sz="3700" b="1" dirty="0" smtClean="0"/>
              <a:t>Microsoft Azure</a:t>
            </a:r>
            <a:r>
              <a:rPr lang="en-US" sz="3700" dirty="0" smtClean="0"/>
              <a:t> (383 counts) and </a:t>
            </a:r>
            <a:r>
              <a:rPr lang="en-US" sz="3700" b="1" dirty="0" smtClean="0"/>
              <a:t>Google Cloud</a:t>
            </a:r>
            <a:r>
              <a:rPr lang="en-US" sz="3700" dirty="0" smtClean="0"/>
              <a:t> (317 counts) are the next most popular, indicating that the major cloud providers dominate the market for platforms developers have experience with.</a:t>
            </a:r>
          </a:p>
          <a:p>
            <a:pPr lvl="1"/>
            <a:r>
              <a:rPr lang="en-US" sz="3700" dirty="0" smtClean="0"/>
              <a:t>Other platforms like </a:t>
            </a:r>
            <a:r>
              <a:rPr lang="en-US" sz="3700" dirty="0" err="1" smtClean="0"/>
              <a:t>Cloudflare</a:t>
            </a:r>
            <a:r>
              <a:rPr lang="en-US" sz="3700" dirty="0" smtClean="0"/>
              <a:t>, Digital Ocean, Firebase, </a:t>
            </a:r>
            <a:r>
              <a:rPr lang="en-US" sz="3700" dirty="0" err="1" smtClean="0"/>
              <a:t>Vercel</a:t>
            </a:r>
            <a:r>
              <a:rPr lang="en-US" sz="3700" dirty="0" smtClean="0"/>
              <a:t>, </a:t>
            </a:r>
            <a:r>
              <a:rPr lang="en-US" sz="3700" dirty="0" err="1" smtClean="0"/>
              <a:t>Netlify</a:t>
            </a:r>
            <a:r>
              <a:rPr lang="en-US" sz="3700" dirty="0" smtClean="0"/>
              <a:t>, and </a:t>
            </a:r>
            <a:r>
              <a:rPr lang="en-US" sz="3700" dirty="0" err="1" smtClean="0"/>
              <a:t>Heroku</a:t>
            </a:r>
            <a:r>
              <a:rPr lang="en-US" sz="3700" dirty="0" smtClean="0"/>
              <a:t> are also represented, showing a diverse ecosystem of platforms, though with lower counts compared to the top three cloud providers</a:t>
            </a:r>
            <a:r>
              <a:rPr lang="en-US" sz="3700" dirty="0" smtClean="0"/>
              <a:t>.</a:t>
            </a:r>
            <a:endParaRPr lang="en-US" sz="3700" dirty="0" smtClean="0"/>
          </a:p>
        </p:txBody>
      </p:sp>
      <p:sp>
        <p:nvSpPr>
          <p:cNvPr id="4" name="Content Placeholder 3">
            <a:extLst>
              <a:ext uri="{FF2B5EF4-FFF2-40B4-BE49-F238E27FC236}">
                <a16:creationId xmlns:a16="http://schemas.microsoft.com/office/drawing/2014/main" xmlns="" id="{D2166E7F-5223-7C98-EBC0-E8FA35940F98}"/>
              </a:ext>
            </a:extLst>
          </p:cNvPr>
          <p:cNvSpPr>
            <a:spLocks noGrp="1"/>
          </p:cNvSpPr>
          <p:nvPr>
            <p:ph sz="half" idx="2"/>
          </p:nvPr>
        </p:nvSpPr>
        <p:spPr>
          <a:xfrm>
            <a:off x="6071016" y="1364104"/>
            <a:ext cx="5342745" cy="5493895"/>
          </a:xfrm>
        </p:spPr>
        <p:txBody>
          <a:bodyPr>
            <a:noAutofit/>
          </a:bodyPr>
          <a:lstStyle/>
          <a:p>
            <a:r>
              <a:rPr lang="en-US" sz="1050" b="1" dirty="0" err="1" smtClean="0"/>
              <a:t>Findings:Dominance</a:t>
            </a:r>
            <a:r>
              <a:rPr lang="en-US" sz="1050" b="1" dirty="0" smtClean="0"/>
              <a:t> </a:t>
            </a:r>
            <a:r>
              <a:rPr lang="en-US" sz="1050" b="1" dirty="0" smtClean="0"/>
              <a:t>of Web Technologies:</a:t>
            </a:r>
            <a:r>
              <a:rPr lang="en-US" sz="1050" dirty="0" smtClean="0"/>
              <a:t> JavaScript (11,541), </a:t>
            </a:r>
            <a:r>
              <a:rPr lang="en-US" sz="1050" dirty="0" err="1" smtClean="0"/>
              <a:t>TypeScript</a:t>
            </a:r>
            <a:r>
              <a:rPr lang="en-US" sz="1050" dirty="0" smtClean="0"/>
              <a:t> (10,437), and HTML/CSS (10,016) are among the most desired languages, indicating a continued strong interest in web development, especially with modern front-end frameworks and type-safe JavaScript.</a:t>
            </a:r>
          </a:p>
          <a:p>
            <a:r>
              <a:rPr lang="en-US" sz="1050" b="1" dirty="0" smtClean="0"/>
              <a:t>Persistent Importance of SQL:</a:t>
            </a:r>
            <a:r>
              <a:rPr lang="en-US" sz="1050" dirty="0" smtClean="0"/>
              <a:t> SQL (10,944) ranks very high, underscoring its foundational role in data management and its perennial relevance across various domains.</a:t>
            </a:r>
          </a:p>
          <a:p>
            <a:r>
              <a:rPr lang="en-US" sz="1050" b="1" dirty="0" smtClean="0"/>
              <a:t>Python's Versatility:</a:t>
            </a:r>
            <a:r>
              <a:rPr lang="en-US" sz="1050" dirty="0" smtClean="0"/>
              <a:t> Python (8,919) remains a top choice, reflecting its widespread use in data science, machine learning, web development, and automation.</a:t>
            </a:r>
          </a:p>
          <a:p>
            <a:r>
              <a:rPr lang="en-US" sz="1050" b="1" dirty="0" smtClean="0"/>
              <a:t>Emerging System Languages:</a:t>
            </a:r>
            <a:r>
              <a:rPr lang="en-US" sz="1050" dirty="0" smtClean="0"/>
              <a:t> Go (5,661) and Rust (5,597) show significant interest. This suggests a growing desire among developers for languages that offer performance, concurrency, and memory safety, particularly for systems programming, </a:t>
            </a:r>
            <a:r>
              <a:rPr lang="en-US" sz="1050" dirty="0" err="1" smtClean="0"/>
              <a:t>microservices</a:t>
            </a:r>
            <a:r>
              <a:rPr lang="en-US" sz="1050" dirty="0" smtClean="0"/>
              <a:t>, and high-performance applications.</a:t>
            </a:r>
          </a:p>
          <a:p>
            <a:r>
              <a:rPr lang="en-US" sz="1050" b="1" dirty="0" smtClean="0"/>
              <a:t>Enterprise and Scripting Languages:</a:t>
            </a:r>
            <a:r>
              <a:rPr lang="en-US" sz="1050" dirty="0" smtClean="0"/>
              <a:t> C# (5,590) and Java (4,048) continue to attract interest, likely due to their strong presence in enterprise environments, while Bash/Shell (5,582) indicates the ongoing need for scripting and automation.</a:t>
            </a:r>
          </a:p>
          <a:p>
            <a:r>
              <a:rPr lang="en-US" sz="1050" b="1" dirty="0" smtClean="0"/>
              <a:t>Implications:</a:t>
            </a:r>
            <a:endParaRPr lang="en-US" sz="1050" dirty="0" smtClean="0"/>
          </a:p>
          <a:p>
            <a:r>
              <a:rPr lang="en-US" sz="1050" b="1" dirty="0" smtClean="0"/>
              <a:t>Career Opportunities:</a:t>
            </a:r>
            <a:r>
              <a:rPr lang="en-US" sz="1050" dirty="0" smtClean="0"/>
              <a:t> Developers looking to stay competitive or transition into new roles might benefit from focusing on these high-demand languages.</a:t>
            </a:r>
          </a:p>
          <a:p>
            <a:r>
              <a:rPr lang="en-US" sz="1050" b="1" dirty="0" smtClean="0"/>
              <a:t>Educational Trends:</a:t>
            </a:r>
            <a:r>
              <a:rPr lang="en-US" sz="1050" dirty="0" smtClean="0"/>
              <a:t> Educational institutions and online learning platforms should consider offering robust courses and resources for these languages to meet market demand.</a:t>
            </a:r>
          </a:p>
          <a:p>
            <a:r>
              <a:rPr lang="en-US" sz="1050" b="1" dirty="0" smtClean="0"/>
              <a:t>Hiring Strategies:</a:t>
            </a:r>
            <a:r>
              <a:rPr lang="en-US" sz="1050" dirty="0" smtClean="0"/>
              <a:t> Companies seeking to build future-proof applications should look for talent proficient in these desired languages.</a:t>
            </a:r>
          </a:p>
          <a:p>
            <a:r>
              <a:rPr lang="en-US" sz="1050" b="1" dirty="0" smtClean="0"/>
              <a:t>Technology Adoption:</a:t>
            </a:r>
            <a:r>
              <a:rPr lang="en-US" sz="1050" dirty="0" smtClean="0"/>
              <a:t> The strong interest in Go and Rust could signal a shift towards more </a:t>
            </a:r>
            <a:r>
              <a:rPr lang="en-US" sz="1050" dirty="0" err="1" smtClean="0"/>
              <a:t>performant</a:t>
            </a:r>
            <a:r>
              <a:rPr lang="en-US" sz="1050" dirty="0" smtClean="0"/>
              <a:t> and secure systems, influencing future architecture decisions.</a:t>
            </a:r>
          </a:p>
          <a:p>
            <a:r>
              <a:rPr lang="en-US" sz="1050" b="1" dirty="0" smtClean="0"/>
              <a:t>Tooling and Ecosystem Development:</a:t>
            </a:r>
            <a:r>
              <a:rPr lang="en-US" sz="1050" dirty="0" smtClean="0"/>
              <a:t> The popularity of these languages drives further development in their respective ecosystems, including libraries, frameworks, and developer tools.</a:t>
            </a:r>
            <a:endParaRPr lang="en-US" sz="1050" dirty="0"/>
          </a:p>
        </p:txBody>
      </p:sp>
    </p:spTree>
    <p:custDataLst>
      <p:tags r:id="rId1"/>
    </p:custDataLst>
    <p:extLst>
      <p:ext uri="{BB962C8B-B14F-4D97-AF65-F5344CB8AC3E}">
        <p14:creationId xmlns:p14="http://schemas.microsoft.com/office/powerpoint/2010/main" xmlns="" val="370128874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3AA0F35-C02C-0C12-3664-049CAC5AFA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580B430B-2D6C-26E3-5D00-4D061A250E06}"/>
              </a:ext>
            </a:extLst>
          </p:cNvPr>
          <p:cNvSpPr>
            <a:spLocks noGrp="1"/>
          </p:cNvSpPr>
          <p:nvPr>
            <p:ph type="title"/>
          </p:nvPr>
        </p:nvSpPr>
        <p:spPr>
          <a:xfrm>
            <a:off x="862584" y="428768"/>
            <a:ext cx="10515600" cy="1325563"/>
          </a:xfrm>
        </p:spPr>
        <p:txBody>
          <a:bodyPr/>
          <a:lstStyle/>
          <a:p>
            <a:r>
              <a:rPr lang="en-US" dirty="0"/>
              <a:t>DATABASE TRENDS</a:t>
            </a:r>
          </a:p>
        </p:txBody>
      </p:sp>
      <p:sp>
        <p:nvSpPr>
          <p:cNvPr id="3" name="Content Placeholder 2">
            <a:extLst>
              <a:ext uri="{FF2B5EF4-FFF2-40B4-BE49-F238E27FC236}">
                <a16:creationId xmlns:a16="http://schemas.microsoft.com/office/drawing/2014/main" xmlns="" id="{6C2B3FA5-2985-EAFB-8885-6820D4058AF4}"/>
              </a:ext>
            </a:extLst>
          </p:cNvPr>
          <p:cNvSpPr>
            <a:spLocks noGrp="1"/>
          </p:cNvSpPr>
          <p:nvPr>
            <p:ph sz="half" idx="1"/>
          </p:nvPr>
        </p:nvSpPr>
        <p:spPr>
          <a:xfrm>
            <a:off x="2132950" y="2080118"/>
            <a:ext cx="2228642" cy="501939"/>
          </a:xfrm>
        </p:spPr>
        <p:txBody>
          <a:bodyPr/>
          <a:lstStyle/>
          <a:p>
            <a:pPr marL="0" indent="0">
              <a:buNone/>
            </a:pPr>
            <a:r>
              <a:rPr lang="en-US" dirty="0"/>
              <a:t>Current Year</a:t>
            </a:r>
          </a:p>
        </p:txBody>
      </p:sp>
      <p:sp>
        <p:nvSpPr>
          <p:cNvPr id="4" name="Content Placeholder 3">
            <a:extLst>
              <a:ext uri="{FF2B5EF4-FFF2-40B4-BE49-F238E27FC236}">
                <a16:creationId xmlns:a16="http://schemas.microsoft.com/office/drawing/2014/main" xmlns="" id="{30E0AA0B-A66B-F896-65D9-69DDA700D8E7}"/>
              </a:ext>
            </a:extLst>
          </p:cNvPr>
          <p:cNvSpPr>
            <a:spLocks noGrp="1"/>
          </p:cNvSpPr>
          <p:nvPr>
            <p:ph sz="half" idx="2"/>
          </p:nvPr>
        </p:nvSpPr>
        <p:spPr>
          <a:xfrm>
            <a:off x="7611256" y="2065127"/>
            <a:ext cx="1758142" cy="501939"/>
          </a:xfrm>
        </p:spPr>
        <p:txBody>
          <a:bodyPr/>
          <a:lstStyle/>
          <a:p>
            <a:pPr marL="0" indent="0">
              <a:buNone/>
            </a:pPr>
            <a:r>
              <a:rPr lang="en-US" dirty="0"/>
              <a:t>Next Year</a:t>
            </a:r>
          </a:p>
        </p:txBody>
      </p:sp>
      <p:sp>
        <p:nvSpPr>
          <p:cNvPr id="7" name="TextBox 6">
            <a:extLst>
              <a:ext uri="{FF2B5EF4-FFF2-40B4-BE49-F238E27FC236}">
                <a16:creationId xmlns:a16="http://schemas.microsoft.com/office/drawing/2014/main" xmlns="" id="{917A0CDF-0FE0-1DE3-5B09-44D4318623B8}"/>
              </a:ext>
            </a:extLst>
          </p:cNvPr>
          <p:cNvSpPr txBox="1"/>
          <p:nvPr/>
        </p:nvSpPr>
        <p:spPr>
          <a:xfrm>
            <a:off x="881252" y="1476527"/>
            <a:ext cx="10429495" cy="461665"/>
          </a:xfrm>
          <a:prstGeom prst="rect">
            <a:avLst/>
          </a:prstGeom>
          <a:noFill/>
        </p:spPr>
        <p:txBody>
          <a:bodyPr wrap="square" rtlCol="0">
            <a:spAutoFit/>
          </a:bodyPr>
          <a:lstStyle/>
          <a:p>
            <a:r>
              <a:rPr lang="en-US" sz="2400" dirty="0"/>
              <a:t>Summarize key trends shown in the charts.</a:t>
            </a:r>
          </a:p>
        </p:txBody>
      </p:sp>
      <p:pic>
        <p:nvPicPr>
          <p:cNvPr id="8" name="Picture 7" descr="tbehaveworedwith.png"/>
          <p:cNvPicPr>
            <a:picLocks noChangeAspect="1"/>
          </p:cNvPicPr>
          <p:nvPr/>
        </p:nvPicPr>
        <p:blipFill>
          <a:blip r:embed="rId4"/>
          <a:stretch>
            <a:fillRect/>
          </a:stretch>
        </p:blipFill>
        <p:spPr>
          <a:xfrm>
            <a:off x="929317" y="2568816"/>
            <a:ext cx="5036768" cy="3577152"/>
          </a:xfrm>
          <a:prstGeom prst="rect">
            <a:avLst/>
          </a:prstGeom>
        </p:spPr>
      </p:pic>
      <p:pic>
        <p:nvPicPr>
          <p:cNvPr id="9" name="Picture 8" descr="tbehaveworedwith.png"/>
          <p:cNvPicPr>
            <a:picLocks noChangeAspect="1"/>
          </p:cNvPicPr>
          <p:nvPr/>
        </p:nvPicPr>
        <p:blipFill>
          <a:blip r:embed="rId4"/>
          <a:stretch>
            <a:fillRect/>
          </a:stretch>
        </p:blipFill>
        <p:spPr>
          <a:xfrm>
            <a:off x="6250897" y="2627183"/>
            <a:ext cx="5051687" cy="3451007"/>
          </a:xfrm>
          <a:prstGeom prst="rect">
            <a:avLst/>
          </a:prstGeom>
        </p:spPr>
      </p:pic>
    </p:spTree>
    <p:custDataLst>
      <p:tags r:id="rId1"/>
    </p:custDataLst>
    <p:extLst>
      <p:ext uri="{BB962C8B-B14F-4D97-AF65-F5344CB8AC3E}">
        <p14:creationId xmlns:p14="http://schemas.microsoft.com/office/powerpoint/2010/main" xmlns="" val="150288744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578A6A9C-70D0-119E-38BE-1738DA5AD3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DD797E2B-01DB-9C21-4CF2-1586AB1C34C4}"/>
              </a:ext>
            </a:extLst>
          </p:cNvPr>
          <p:cNvSpPr>
            <a:spLocks noGrp="1"/>
          </p:cNvSpPr>
          <p:nvPr>
            <p:ph type="title"/>
          </p:nvPr>
        </p:nvSpPr>
        <p:spPr>
          <a:xfrm>
            <a:off x="734786" y="572944"/>
            <a:ext cx="11457214" cy="975302"/>
          </a:xfrm>
        </p:spPr>
        <p:txBody>
          <a:bodyPr>
            <a:normAutofit fontScale="90000"/>
          </a:bodyPr>
          <a:lstStyle/>
          <a:p>
            <a:r>
              <a:rPr lang="en-US" dirty="0"/>
              <a:t>DATABASE TRENDS - FINDINGS &amp; IMPLICATIONS</a:t>
            </a:r>
          </a:p>
        </p:txBody>
      </p:sp>
      <p:sp>
        <p:nvSpPr>
          <p:cNvPr id="3" name="Content Placeholder 2">
            <a:extLst>
              <a:ext uri="{FF2B5EF4-FFF2-40B4-BE49-F238E27FC236}">
                <a16:creationId xmlns:a16="http://schemas.microsoft.com/office/drawing/2014/main" xmlns="" id="{F73EC42F-75A2-FA08-F2B6-EB2817BBF83F}"/>
              </a:ext>
            </a:extLst>
          </p:cNvPr>
          <p:cNvSpPr>
            <a:spLocks noGrp="1"/>
          </p:cNvSpPr>
          <p:nvPr>
            <p:ph sz="half" idx="1"/>
          </p:nvPr>
        </p:nvSpPr>
        <p:spPr>
          <a:xfrm>
            <a:off x="813816" y="1825625"/>
            <a:ext cx="5181600" cy="4351338"/>
          </a:xfrm>
        </p:spPr>
        <p:txBody>
          <a:bodyPr>
            <a:normAutofit fontScale="40000" lnSpcReduction="20000"/>
          </a:bodyPr>
          <a:lstStyle/>
          <a:p>
            <a:pPr marL="0" indent="0">
              <a:buNone/>
            </a:pPr>
            <a:r>
              <a:rPr lang="en-US" dirty="0"/>
              <a:t>Findings</a:t>
            </a:r>
          </a:p>
          <a:p>
            <a:pPr marL="0" indent="0">
              <a:buNone/>
            </a:pPr>
            <a:endParaRPr lang="en-US" dirty="0"/>
          </a:p>
          <a:p>
            <a:r>
              <a:rPr lang="en-US" dirty="0" smtClean="0"/>
              <a:t>The 'Top 10 Databases Have Worked With' chart, generated from the survey data, reveals the most popular databases among the respondents. Here's a breakdown of the top databases:</a:t>
            </a:r>
          </a:p>
          <a:p>
            <a:r>
              <a:rPr lang="en-US" b="1" dirty="0" err="1" smtClean="0"/>
              <a:t>PostgreSQL</a:t>
            </a:r>
            <a:r>
              <a:rPr lang="en-US" dirty="0" smtClean="0"/>
              <a:t>: 5601 respondents</a:t>
            </a:r>
          </a:p>
          <a:p>
            <a:r>
              <a:rPr lang="en-US" b="1" dirty="0" err="1" smtClean="0"/>
              <a:t>MySQL</a:t>
            </a:r>
            <a:r>
              <a:rPr lang="en-US" dirty="0" smtClean="0"/>
              <a:t>: 4118 respondents</a:t>
            </a:r>
          </a:p>
          <a:p>
            <a:r>
              <a:rPr lang="en-US" b="1" dirty="0" err="1" smtClean="0"/>
              <a:t>SQLite</a:t>
            </a:r>
            <a:r>
              <a:rPr lang="en-US" dirty="0" smtClean="0"/>
              <a:t>: 3404 respondents</a:t>
            </a:r>
          </a:p>
          <a:p>
            <a:r>
              <a:rPr lang="en-US" b="1" dirty="0" err="1" smtClean="0"/>
              <a:t>MongoDB</a:t>
            </a:r>
            <a:r>
              <a:rPr lang="en-US" dirty="0" smtClean="0"/>
              <a:t>: 2907 respondents</a:t>
            </a:r>
          </a:p>
          <a:p>
            <a:r>
              <a:rPr lang="en-US" b="1" dirty="0" err="1" smtClean="0"/>
              <a:t>Redis</a:t>
            </a:r>
            <a:r>
              <a:rPr lang="en-US" dirty="0" smtClean="0"/>
              <a:t>: 2884 respondents</a:t>
            </a:r>
          </a:p>
          <a:p>
            <a:r>
              <a:rPr lang="en-US" b="1" dirty="0" smtClean="0"/>
              <a:t>Microsoft SQL Server</a:t>
            </a:r>
            <a:r>
              <a:rPr lang="en-US" dirty="0" smtClean="0"/>
              <a:t>: 2809 respondents</a:t>
            </a:r>
          </a:p>
          <a:p>
            <a:r>
              <a:rPr lang="en-US" b="1" dirty="0" err="1" smtClean="0"/>
              <a:t>MariaDB</a:t>
            </a:r>
            <a:r>
              <a:rPr lang="en-US" dirty="0" smtClean="0"/>
              <a:t>: 1910 respondents</a:t>
            </a:r>
          </a:p>
          <a:p>
            <a:r>
              <a:rPr lang="en-US" b="1" dirty="0" err="1" smtClean="0"/>
              <a:t>Elasticsearch</a:t>
            </a:r>
            <a:r>
              <a:rPr lang="en-US" dirty="0" smtClean="0"/>
              <a:t>: 1706 respondents</a:t>
            </a:r>
          </a:p>
          <a:p>
            <a:r>
              <a:rPr lang="en-US" b="1" dirty="0" err="1" smtClean="0"/>
              <a:t>Dynamodb</a:t>
            </a:r>
            <a:r>
              <a:rPr lang="en-US" dirty="0" smtClean="0"/>
              <a:t>: 1133 respondents</a:t>
            </a:r>
          </a:p>
          <a:p>
            <a:r>
              <a:rPr lang="en-US" b="1" dirty="0" smtClean="0"/>
              <a:t>Oracle</a:t>
            </a:r>
            <a:r>
              <a:rPr lang="en-US" dirty="0" smtClean="0"/>
              <a:t>: 835 respondents</a:t>
            </a:r>
          </a:p>
          <a:p>
            <a:r>
              <a:rPr lang="en-US" dirty="0" smtClean="0"/>
              <a:t>This indicates that relational databases like </a:t>
            </a:r>
            <a:r>
              <a:rPr lang="en-US" dirty="0" err="1" smtClean="0"/>
              <a:t>PostgreSQL</a:t>
            </a:r>
            <a:r>
              <a:rPr lang="en-US" dirty="0" smtClean="0"/>
              <a:t> and </a:t>
            </a:r>
            <a:r>
              <a:rPr lang="en-US" dirty="0" err="1" smtClean="0"/>
              <a:t>MySQL</a:t>
            </a:r>
            <a:r>
              <a:rPr lang="en-US" dirty="0" smtClean="0"/>
              <a:t> are highly prevalent, while </a:t>
            </a:r>
            <a:r>
              <a:rPr lang="en-US" dirty="0" err="1" smtClean="0"/>
              <a:t>NoSQL</a:t>
            </a:r>
            <a:r>
              <a:rPr lang="en-US" dirty="0" smtClean="0"/>
              <a:t> options like </a:t>
            </a:r>
            <a:r>
              <a:rPr lang="en-US" dirty="0" err="1" smtClean="0"/>
              <a:t>MongoDB</a:t>
            </a:r>
            <a:r>
              <a:rPr lang="en-US" dirty="0" smtClean="0"/>
              <a:t> and </a:t>
            </a:r>
            <a:r>
              <a:rPr lang="en-US" dirty="0" err="1" smtClean="0"/>
              <a:t>Redis</a:t>
            </a:r>
            <a:r>
              <a:rPr lang="en-US" dirty="0" smtClean="0"/>
              <a:t> also have a significant user base.</a:t>
            </a:r>
            <a:endParaRPr lang="en-US" dirty="0"/>
          </a:p>
        </p:txBody>
      </p:sp>
      <p:sp>
        <p:nvSpPr>
          <p:cNvPr id="4" name="Content Placeholder 3">
            <a:extLst>
              <a:ext uri="{FF2B5EF4-FFF2-40B4-BE49-F238E27FC236}">
                <a16:creationId xmlns:a16="http://schemas.microsoft.com/office/drawing/2014/main" xmlns="" id="{D327B10A-E9C3-5B71-0345-782E28BDB37C}"/>
              </a:ext>
            </a:extLst>
          </p:cNvPr>
          <p:cNvSpPr>
            <a:spLocks noGrp="1"/>
          </p:cNvSpPr>
          <p:nvPr>
            <p:ph sz="half" idx="2"/>
          </p:nvPr>
        </p:nvSpPr>
        <p:spPr>
          <a:xfrm>
            <a:off x="6172200" y="1825625"/>
            <a:ext cx="5181600" cy="4351338"/>
          </a:xfrm>
        </p:spPr>
        <p:txBody>
          <a:bodyPr>
            <a:normAutofit fontScale="40000" lnSpcReduction="20000"/>
          </a:bodyPr>
          <a:lstStyle/>
          <a:p>
            <a:pPr marL="0" indent="0">
              <a:buNone/>
            </a:pPr>
            <a:r>
              <a:rPr lang="en-US" dirty="0" smtClean="0"/>
              <a:t>findings</a:t>
            </a:r>
            <a:endParaRPr lang="en-US" dirty="0"/>
          </a:p>
          <a:p>
            <a:r>
              <a:rPr lang="en-US" dirty="0" smtClean="0"/>
              <a:t>The 'Top 10 Databases Want To Work With' chart, derived from the survey responses, highlights the databases that professionals are most interested in learning or using in the future. Here's a summary of the top choices:</a:t>
            </a:r>
          </a:p>
          <a:p>
            <a:r>
              <a:rPr lang="en-US" b="1" dirty="0" err="1" smtClean="0"/>
              <a:t>PostgreSQL</a:t>
            </a:r>
            <a:r>
              <a:rPr lang="en-US" dirty="0" smtClean="0"/>
              <a:t>: 12193 respondents</a:t>
            </a:r>
          </a:p>
          <a:p>
            <a:r>
              <a:rPr lang="en-US" b="1" dirty="0" err="1" smtClean="0"/>
              <a:t>Redis</a:t>
            </a:r>
            <a:r>
              <a:rPr lang="en-US" dirty="0" smtClean="0"/>
              <a:t>: 6384 respondents</a:t>
            </a:r>
          </a:p>
          <a:p>
            <a:r>
              <a:rPr lang="en-US" b="1" dirty="0" err="1" smtClean="0"/>
              <a:t>SQLite</a:t>
            </a:r>
            <a:r>
              <a:rPr lang="en-US" dirty="0" smtClean="0"/>
              <a:t>: 6295 respondents</a:t>
            </a:r>
          </a:p>
          <a:p>
            <a:r>
              <a:rPr lang="en-US" b="1" dirty="0" err="1" smtClean="0"/>
              <a:t>MySQL</a:t>
            </a:r>
            <a:r>
              <a:rPr lang="en-US" dirty="0" smtClean="0"/>
              <a:t>: 6204 respondents</a:t>
            </a:r>
          </a:p>
          <a:p>
            <a:r>
              <a:rPr lang="en-US" b="1" dirty="0" err="1" smtClean="0"/>
              <a:t>MongoDB</a:t>
            </a:r>
            <a:r>
              <a:rPr lang="en-US" dirty="0" smtClean="0"/>
              <a:t>: 5618 respondents</a:t>
            </a:r>
          </a:p>
          <a:p>
            <a:r>
              <a:rPr lang="en-US" b="1" dirty="0" smtClean="0"/>
              <a:t>Microsoft SQL Server</a:t>
            </a:r>
            <a:r>
              <a:rPr lang="en-US" dirty="0" smtClean="0"/>
              <a:t>: 4345 respondents</a:t>
            </a:r>
          </a:p>
          <a:p>
            <a:r>
              <a:rPr lang="en-US" b="1" dirty="0" err="1" smtClean="0"/>
              <a:t>Elasticsearch</a:t>
            </a:r>
            <a:r>
              <a:rPr lang="en-US" dirty="0" smtClean="0"/>
              <a:t>: 3665 respondents</a:t>
            </a:r>
          </a:p>
          <a:p>
            <a:r>
              <a:rPr lang="en-US" b="1" dirty="0" err="1" smtClean="0"/>
              <a:t>MariaDB</a:t>
            </a:r>
            <a:r>
              <a:rPr lang="en-US" dirty="0" smtClean="0"/>
              <a:t>: 3078 respondents</a:t>
            </a:r>
          </a:p>
          <a:p>
            <a:r>
              <a:rPr lang="en-US" b="1" dirty="0" err="1" smtClean="0"/>
              <a:t>Dynamodb</a:t>
            </a:r>
            <a:r>
              <a:rPr lang="en-US" dirty="0" smtClean="0"/>
              <a:t>: 2154 respondents</a:t>
            </a:r>
          </a:p>
          <a:p>
            <a:r>
              <a:rPr lang="en-US" b="1" dirty="0" err="1" smtClean="0"/>
              <a:t>Supabase</a:t>
            </a:r>
            <a:r>
              <a:rPr lang="en-US" dirty="0" smtClean="0"/>
              <a:t>: 1623 respondents</a:t>
            </a:r>
          </a:p>
          <a:p>
            <a:r>
              <a:rPr lang="en-US" dirty="0" smtClean="0"/>
              <a:t>This data suggests a strong ongoing interest in relational databases like </a:t>
            </a:r>
            <a:r>
              <a:rPr lang="en-US" dirty="0" err="1" smtClean="0"/>
              <a:t>PostgreSQL</a:t>
            </a:r>
            <a:r>
              <a:rPr lang="en-US" dirty="0" smtClean="0"/>
              <a:t> and </a:t>
            </a:r>
            <a:r>
              <a:rPr lang="en-US" dirty="0" err="1" smtClean="0"/>
              <a:t>MySQL</a:t>
            </a:r>
            <a:r>
              <a:rPr lang="en-US" dirty="0" smtClean="0"/>
              <a:t>, but also significant enthusiasm for </a:t>
            </a:r>
            <a:r>
              <a:rPr lang="en-US" dirty="0" err="1" smtClean="0"/>
              <a:t>NoSQL</a:t>
            </a:r>
            <a:r>
              <a:rPr lang="en-US" dirty="0" smtClean="0"/>
              <a:t> databases such as </a:t>
            </a:r>
            <a:r>
              <a:rPr lang="en-US" dirty="0" err="1" smtClean="0"/>
              <a:t>Redis</a:t>
            </a:r>
            <a:r>
              <a:rPr lang="en-US" dirty="0" smtClean="0"/>
              <a:t> and </a:t>
            </a:r>
            <a:r>
              <a:rPr lang="en-US" dirty="0" err="1" smtClean="0"/>
              <a:t>MongoDB</a:t>
            </a:r>
            <a:r>
              <a:rPr lang="en-US" dirty="0" smtClean="0"/>
              <a:t>, as well as cloud-native options like </a:t>
            </a:r>
            <a:r>
              <a:rPr lang="en-US" dirty="0" err="1" smtClean="0"/>
              <a:t>Dynamodb</a:t>
            </a:r>
            <a:r>
              <a:rPr lang="en-US" dirty="0" smtClean="0"/>
              <a:t> and </a:t>
            </a:r>
            <a:r>
              <a:rPr lang="en-US" dirty="0" err="1" smtClean="0"/>
              <a:t>Supabase</a:t>
            </a:r>
            <a:r>
              <a:rPr lang="en-US" dirty="0" smtClean="0"/>
              <a:t>.</a:t>
            </a:r>
          </a:p>
          <a:p>
            <a:endParaRPr lang="en-US" dirty="0"/>
          </a:p>
        </p:txBody>
      </p:sp>
    </p:spTree>
    <p:custDataLst>
      <p:tags r:id="rId1"/>
    </p:custDataLst>
    <p:extLst>
      <p:ext uri="{BB962C8B-B14F-4D97-AF65-F5344CB8AC3E}">
        <p14:creationId xmlns:p14="http://schemas.microsoft.com/office/powerpoint/2010/main" xmlns="" val="318812595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53E8291F-E27C-74F8-33D3-FF131FC968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14BB7D73-872E-CFE8-1C38-8422F383863C}"/>
              </a:ext>
            </a:extLst>
          </p:cNvPr>
          <p:cNvSpPr>
            <a:spLocks noGrp="1"/>
          </p:cNvSpPr>
          <p:nvPr>
            <p:ph type="title"/>
          </p:nvPr>
        </p:nvSpPr>
        <p:spPr/>
        <p:txBody>
          <a:bodyPr anchor="ctr">
            <a:normAutofit/>
          </a:bodyPr>
          <a:lstStyle/>
          <a:p>
            <a:r>
              <a:rPr lang="en-US" dirty="0"/>
              <a:t>DASHBOARD</a:t>
            </a:r>
          </a:p>
        </p:txBody>
      </p:sp>
      <p:sp>
        <p:nvSpPr>
          <p:cNvPr id="3" name="Content Placeholder 2">
            <a:extLst>
              <a:ext uri="{FF2B5EF4-FFF2-40B4-BE49-F238E27FC236}">
                <a16:creationId xmlns:a16="http://schemas.microsoft.com/office/drawing/2014/main" xmlns="" id="{25C64183-B387-01E7-21BA-4DA6B1F51815}"/>
              </a:ext>
            </a:extLst>
          </p:cNvPr>
          <p:cNvSpPr txBox="1">
            <a:spLocks/>
          </p:cNvSpPr>
          <p:nvPr/>
        </p:nvSpPr>
        <p:spPr>
          <a:xfrm>
            <a:off x="3955292" y="3516964"/>
            <a:ext cx="7068725" cy="256923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Font typeface="Arial"/>
              <a:buNone/>
            </a:pPr>
            <a:endParaRPr lang="en-US" sz="2200" dirty="0"/>
          </a:p>
        </p:txBody>
      </p:sp>
      <p:pic>
        <p:nvPicPr>
          <p:cNvPr id="4" name="Picture 3">
            <a:extLst>
              <a:ext uri="{FF2B5EF4-FFF2-40B4-BE49-F238E27FC236}">
                <a16:creationId xmlns:a16="http://schemas.microsoft.com/office/drawing/2014/main" xmlns="" id="{A79822F7-4A79-5E92-9C6D-8A9769182E2E}"/>
              </a:ext>
            </a:extLst>
          </p:cNvPr>
          <p:cNvPicPr>
            <a:picLocks noChangeAspect="1"/>
          </p:cNvPicPr>
          <p:nvPr/>
        </p:nvPicPr>
        <p:blipFill>
          <a:blip r:embed="rId3"/>
          <a:stretch>
            <a:fillRect/>
          </a:stretch>
        </p:blipFill>
        <p:spPr>
          <a:xfrm>
            <a:off x="1077475" y="1901819"/>
            <a:ext cx="3054361" cy="3054361"/>
          </a:xfrm>
          <a:prstGeom prst="rect">
            <a:avLst/>
          </a:prstGeom>
        </p:spPr>
      </p:pic>
      <p:sp>
        <p:nvSpPr>
          <p:cNvPr id="6" name="TextBox 5"/>
          <p:cNvSpPr txBox="1"/>
          <p:nvPr/>
        </p:nvSpPr>
        <p:spPr>
          <a:xfrm>
            <a:off x="4287187" y="1753849"/>
            <a:ext cx="5801193" cy="2246769"/>
          </a:xfrm>
          <a:prstGeom prst="rect">
            <a:avLst/>
          </a:prstGeom>
          <a:noFill/>
        </p:spPr>
        <p:txBody>
          <a:bodyPr wrap="square" rtlCol="0">
            <a:spAutoFit/>
          </a:bodyPr>
          <a:lstStyle/>
          <a:p>
            <a:r>
              <a:rPr lang="en-US" sz="2800" dirty="0" smtClean="0"/>
              <a:t>1.Current </a:t>
            </a:r>
            <a:r>
              <a:rPr lang="en-US" sz="2800" dirty="0" err="1" smtClean="0"/>
              <a:t>Technoogy</a:t>
            </a:r>
            <a:endParaRPr lang="en-US" sz="2800" dirty="0" smtClean="0"/>
          </a:p>
          <a:p>
            <a:endParaRPr lang="en-US" sz="2800" dirty="0" smtClean="0"/>
          </a:p>
          <a:p>
            <a:r>
              <a:rPr lang="en-US" sz="2800" dirty="0" smtClean="0"/>
              <a:t>2. Future Technology Trends</a:t>
            </a:r>
          </a:p>
          <a:p>
            <a:endParaRPr lang="en-US" sz="2800" dirty="0" smtClean="0"/>
          </a:p>
          <a:p>
            <a:r>
              <a:rPr lang="en-US" sz="2800" dirty="0" smtClean="0"/>
              <a:t>3. Demographics</a:t>
            </a:r>
            <a:endParaRPr lang="en-US" sz="2800" dirty="0"/>
          </a:p>
        </p:txBody>
      </p:sp>
    </p:spTree>
    <p:custDataLst>
      <p:tags r:id="rId1"/>
    </p:custDataLst>
    <p:extLst>
      <p:ext uri="{BB962C8B-B14F-4D97-AF65-F5344CB8AC3E}">
        <p14:creationId xmlns:p14="http://schemas.microsoft.com/office/powerpoint/2010/main" xmlns="" val="17521984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F42F0CA-55D1-0835-20D4-03D017A1D5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FD393914-A678-A34E-C52A-16D0ADAA25AF}"/>
              </a:ext>
            </a:extLst>
          </p:cNvPr>
          <p:cNvSpPr>
            <a:spLocks noGrp="1"/>
          </p:cNvSpPr>
          <p:nvPr>
            <p:ph type="title"/>
          </p:nvPr>
        </p:nvSpPr>
        <p:spPr>
          <a:xfrm>
            <a:off x="706582" y="365125"/>
            <a:ext cx="11087100" cy="985693"/>
          </a:xfrm>
        </p:spPr>
        <p:txBody>
          <a:bodyPr anchor="ctr">
            <a:noAutofit/>
          </a:bodyPr>
          <a:lstStyle/>
          <a:p>
            <a:r>
              <a:rPr lang="en-US" dirty="0"/>
              <a:t>DASHBOARD TAB 1: Current Technology Usage</a:t>
            </a:r>
          </a:p>
        </p:txBody>
      </p:sp>
      <p:pic>
        <p:nvPicPr>
          <p:cNvPr id="5" name="Picture 4" descr="CTU.png"/>
          <p:cNvPicPr>
            <a:picLocks noChangeAspect="1"/>
          </p:cNvPicPr>
          <p:nvPr/>
        </p:nvPicPr>
        <p:blipFill>
          <a:blip r:embed="rId3"/>
          <a:stretch>
            <a:fillRect/>
          </a:stretch>
        </p:blipFill>
        <p:spPr>
          <a:xfrm>
            <a:off x="2636648" y="1446156"/>
            <a:ext cx="6927068" cy="4972699"/>
          </a:xfrm>
          <a:prstGeom prst="rect">
            <a:avLst/>
          </a:prstGeom>
        </p:spPr>
      </p:pic>
    </p:spTree>
    <p:custDataLst>
      <p:tags r:id="rId1"/>
    </p:custDataLst>
    <p:extLst>
      <p:ext uri="{BB962C8B-B14F-4D97-AF65-F5344CB8AC3E}">
        <p14:creationId xmlns:p14="http://schemas.microsoft.com/office/powerpoint/2010/main" xmlns="" val="242973672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F118F23D-B8D7-D0E4-EDC5-E0F023884D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B94F933A-3681-3D82-68EF-62EC07822DAD}"/>
              </a:ext>
            </a:extLst>
          </p:cNvPr>
          <p:cNvSpPr>
            <a:spLocks noGrp="1"/>
          </p:cNvSpPr>
          <p:nvPr>
            <p:ph type="title"/>
          </p:nvPr>
        </p:nvSpPr>
        <p:spPr>
          <a:xfrm>
            <a:off x="727364" y="531380"/>
            <a:ext cx="11055926" cy="1016866"/>
          </a:xfrm>
        </p:spPr>
        <p:txBody>
          <a:bodyPr anchor="ctr">
            <a:normAutofit fontScale="90000"/>
          </a:bodyPr>
          <a:lstStyle/>
          <a:p>
            <a:r>
              <a:rPr lang="en-US" dirty="0"/>
              <a:t>DASHBOARD TAB 2: Future Technology Trends</a:t>
            </a:r>
          </a:p>
        </p:txBody>
      </p:sp>
      <p:pic>
        <p:nvPicPr>
          <p:cNvPr id="5" name="Picture 4" descr="FTT.png"/>
          <p:cNvPicPr>
            <a:picLocks noChangeAspect="1"/>
          </p:cNvPicPr>
          <p:nvPr/>
        </p:nvPicPr>
        <p:blipFill>
          <a:blip r:embed="rId3"/>
          <a:stretch>
            <a:fillRect/>
          </a:stretch>
        </p:blipFill>
        <p:spPr>
          <a:xfrm>
            <a:off x="2563319" y="1403978"/>
            <a:ext cx="6913006" cy="4999450"/>
          </a:xfrm>
          <a:prstGeom prst="rect">
            <a:avLst/>
          </a:prstGeom>
        </p:spPr>
      </p:pic>
    </p:spTree>
    <p:custDataLst>
      <p:tags r:id="rId1"/>
    </p:custDataLst>
    <p:extLst>
      <p:ext uri="{BB962C8B-B14F-4D97-AF65-F5344CB8AC3E}">
        <p14:creationId xmlns:p14="http://schemas.microsoft.com/office/powerpoint/2010/main" xmlns="" val="204849667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E10A10D3-267F-7A90-5160-775BFEBCA6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712C0C82-5F1A-F7B1-2C56-5C08240C1647}"/>
              </a:ext>
            </a:extLst>
          </p:cNvPr>
          <p:cNvSpPr>
            <a:spLocks noGrp="1"/>
          </p:cNvSpPr>
          <p:nvPr>
            <p:ph type="title"/>
          </p:nvPr>
        </p:nvSpPr>
        <p:spPr/>
        <p:txBody>
          <a:bodyPr anchor="ctr">
            <a:normAutofit/>
          </a:bodyPr>
          <a:lstStyle/>
          <a:p>
            <a:r>
              <a:rPr lang="en-US" dirty="0"/>
              <a:t>DASHBOARD TAB 3: Demographics</a:t>
            </a:r>
          </a:p>
        </p:txBody>
      </p:sp>
      <p:pic>
        <p:nvPicPr>
          <p:cNvPr id="5" name="Picture 4" descr="demographic.png"/>
          <p:cNvPicPr>
            <a:picLocks noChangeAspect="1"/>
          </p:cNvPicPr>
          <p:nvPr/>
        </p:nvPicPr>
        <p:blipFill>
          <a:blip r:embed="rId3"/>
          <a:stretch>
            <a:fillRect/>
          </a:stretch>
        </p:blipFill>
        <p:spPr>
          <a:xfrm>
            <a:off x="2608291" y="1399156"/>
            <a:ext cx="7075223" cy="5095099"/>
          </a:xfrm>
          <a:prstGeom prst="rect">
            <a:avLst/>
          </a:prstGeom>
        </p:spPr>
      </p:pic>
    </p:spTree>
    <p:custDataLst>
      <p:tags r:id="rId1"/>
    </p:custDataLst>
    <p:extLst>
      <p:ext uri="{BB962C8B-B14F-4D97-AF65-F5344CB8AC3E}">
        <p14:creationId xmlns:p14="http://schemas.microsoft.com/office/powerpoint/2010/main" xmlns="" val="240563622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8762C0A-56EF-B349-A097-27B4D460D1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51298769-531F-C6A5-406F-D1C3D2805950}"/>
              </a:ext>
            </a:extLst>
          </p:cNvPr>
          <p:cNvSpPr>
            <a:spLocks noGrp="1"/>
          </p:cNvSpPr>
          <p:nvPr>
            <p:ph type="title"/>
          </p:nvPr>
        </p:nvSpPr>
        <p:spPr/>
        <p:txBody>
          <a:bodyPr anchor="ctr">
            <a:normAutofit/>
          </a:bodyPr>
          <a:lstStyle/>
          <a:p>
            <a:r>
              <a:rPr lang="en-US" dirty="0"/>
              <a:t>DISCUSSION</a:t>
            </a:r>
          </a:p>
        </p:txBody>
      </p:sp>
      <p:pic>
        <p:nvPicPr>
          <p:cNvPr id="3" name="Content Placeholder 2">
            <a:extLst>
              <a:ext uri="{FF2B5EF4-FFF2-40B4-BE49-F238E27FC236}">
                <a16:creationId xmlns:a16="http://schemas.microsoft.com/office/drawing/2014/main" xmlns="" id="{1F45ECC1-C956-CADF-DDFD-F54C6608E401}"/>
              </a:ext>
            </a:extLst>
          </p:cNvPr>
          <p:cNvPicPr>
            <a:picLocks noGrp="1" noChangeAspect="1"/>
          </p:cNvPicPr>
          <p:nvPr>
            <p:ph sz="half" idx="1"/>
          </p:nvPr>
        </p:nvPicPr>
        <p:blipFill>
          <a:blip r:embed="rId3"/>
          <a:stretch>
            <a:fillRect/>
          </a:stretch>
        </p:blipFill>
        <p:spPr>
          <a:xfrm>
            <a:off x="1143282" y="2348628"/>
            <a:ext cx="3054361" cy="3054361"/>
          </a:xfrm>
          <a:prstGeom prst="rect">
            <a:avLst/>
          </a:prstGeom>
          <a:noFill/>
        </p:spPr>
      </p:pic>
      <p:sp>
        <p:nvSpPr>
          <p:cNvPr id="4" name="Content Placeholder 3">
            <a:extLst>
              <a:ext uri="{FF2B5EF4-FFF2-40B4-BE49-F238E27FC236}">
                <a16:creationId xmlns:a16="http://schemas.microsoft.com/office/drawing/2014/main" xmlns="" id="{0F67EF50-003F-6BB0-4367-42BB884C77A4}"/>
              </a:ext>
            </a:extLst>
          </p:cNvPr>
          <p:cNvSpPr>
            <a:spLocks noGrp="1"/>
          </p:cNvSpPr>
          <p:nvPr>
            <p:ph sz="half" idx="2"/>
          </p:nvPr>
        </p:nvSpPr>
        <p:spPr>
          <a:xfrm>
            <a:off x="5081155" y="1825625"/>
            <a:ext cx="6272645" cy="4351338"/>
          </a:xfrm>
        </p:spPr>
        <p:txBody>
          <a:bodyPr/>
          <a:lstStyle/>
          <a:p>
            <a:r>
              <a:rPr lang="en-US" dirty="0" smtClean="0">
                <a:solidFill>
                  <a:schemeClr val="accent2">
                    <a:lumMod val="50000"/>
                  </a:schemeClr>
                </a:solidFill>
                <a:hlinkClick r:id="rId4"/>
              </a:rPr>
              <a:t>https://</a:t>
            </a:r>
            <a:r>
              <a:rPr lang="en-US" dirty="0" smtClean="0">
                <a:solidFill>
                  <a:schemeClr val="accent2">
                    <a:lumMod val="50000"/>
                  </a:schemeClr>
                </a:solidFill>
                <a:hlinkClick r:id="rId4"/>
              </a:rPr>
              <a:t>github.com/Sumant-crty/IBM-Data-Analyst-Capstone-Project/blob/main/Survey%20Data%20dashboard.pdf</a:t>
            </a:r>
            <a:endParaRPr lang="en-US" dirty="0" smtClean="0">
              <a:solidFill>
                <a:schemeClr val="accent2">
                  <a:lumMod val="50000"/>
                </a:schemeClr>
              </a:solidFill>
            </a:endParaRPr>
          </a:p>
          <a:p>
            <a:endParaRPr lang="en-US" dirty="0"/>
          </a:p>
        </p:txBody>
      </p:sp>
    </p:spTree>
    <p:custDataLst>
      <p:tags r:id="rId1"/>
    </p:custDataLst>
    <p:extLst>
      <p:ext uri="{BB962C8B-B14F-4D97-AF65-F5344CB8AC3E}">
        <p14:creationId xmlns:p14="http://schemas.microsoft.com/office/powerpoint/2010/main" xmlns="" val="85733354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36F05330-0589-A550-601A-037CA416F6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EEBA8902-AF46-DDE8-D792-7940E18AF629}"/>
              </a:ext>
            </a:extLst>
          </p:cNvPr>
          <p:cNvSpPr>
            <a:spLocks noGrp="1"/>
          </p:cNvSpPr>
          <p:nvPr>
            <p:ph type="title"/>
          </p:nvPr>
        </p:nvSpPr>
        <p:spPr/>
        <p:txBody>
          <a:bodyPr/>
          <a:lstStyle/>
          <a:p>
            <a:r>
              <a:rPr lang="en-US" dirty="0"/>
              <a:t>OVERALL FINDINGS &amp; IMPLICATIONS</a:t>
            </a:r>
          </a:p>
        </p:txBody>
      </p:sp>
      <p:sp>
        <p:nvSpPr>
          <p:cNvPr id="3" name="Content Placeholder 2">
            <a:extLst>
              <a:ext uri="{FF2B5EF4-FFF2-40B4-BE49-F238E27FC236}">
                <a16:creationId xmlns:a16="http://schemas.microsoft.com/office/drawing/2014/main" xmlns="" id="{D196B89C-35B9-C514-4E9C-FCBE8D68D3FD}"/>
              </a:ext>
            </a:extLst>
          </p:cNvPr>
          <p:cNvSpPr>
            <a:spLocks noGrp="1"/>
          </p:cNvSpPr>
          <p:nvPr>
            <p:ph sz="half" idx="1"/>
          </p:nvPr>
        </p:nvSpPr>
        <p:spPr>
          <a:xfrm>
            <a:off x="813816" y="1825625"/>
            <a:ext cx="5181600" cy="4351338"/>
          </a:xfrm>
        </p:spPr>
        <p:txBody>
          <a:bodyPr>
            <a:normAutofit fontScale="25000" lnSpcReduction="20000"/>
          </a:bodyPr>
          <a:lstStyle/>
          <a:p>
            <a:r>
              <a:rPr lang="en-US" sz="4800" b="1" dirty="0" smtClean="0"/>
              <a:t>Overall Insights:</a:t>
            </a:r>
          </a:p>
          <a:p>
            <a:r>
              <a:rPr lang="en-US" sz="4800" b="1" dirty="0" smtClean="0"/>
              <a:t>Web Development Dominance and Evolution:</a:t>
            </a:r>
            <a:r>
              <a:rPr lang="en-US" sz="4800" dirty="0" smtClean="0"/>
              <a:t> Languages like JavaScript, HTML/CSS, and </a:t>
            </a:r>
            <a:r>
              <a:rPr lang="en-US" sz="4800" dirty="0" err="1" smtClean="0"/>
              <a:t>TypeScript</a:t>
            </a:r>
            <a:r>
              <a:rPr lang="en-US" sz="4800" dirty="0" smtClean="0"/>
              <a:t>, along with frameworks like React, Node.js, and Next.js, consistently rank at the top for both current usage and future interest. This signifies the enduring importance and rapid evolution of web technologies, with a strong lean towards modern, component-based, and type-safe development.</a:t>
            </a:r>
          </a:p>
          <a:p>
            <a:r>
              <a:rPr lang="en-US" sz="4800" b="1" dirty="0" smtClean="0"/>
              <a:t>Foundational Data Management:</a:t>
            </a:r>
            <a:r>
              <a:rPr lang="en-US" sz="4800" dirty="0" smtClean="0"/>
              <a:t> SQL remains a cornerstone, consistently appearing as a highly-used and highly-desired skill. </a:t>
            </a:r>
            <a:r>
              <a:rPr lang="en-US" sz="4800" dirty="0" err="1" smtClean="0"/>
              <a:t>PostgreSQL</a:t>
            </a:r>
            <a:r>
              <a:rPr lang="en-US" sz="4800" dirty="0" smtClean="0"/>
              <a:t> is particularly prominent in the 'want to work with' category for databases, suggesting a preference for robust relational databases. Alongside this, there's growing interest in diverse data stores like </a:t>
            </a:r>
            <a:r>
              <a:rPr lang="en-US" sz="4800" dirty="0" err="1" smtClean="0"/>
              <a:t>Redis</a:t>
            </a:r>
            <a:r>
              <a:rPr lang="en-US" sz="4800" dirty="0" smtClean="0"/>
              <a:t> (for caching), </a:t>
            </a:r>
            <a:r>
              <a:rPr lang="en-US" sz="4800" dirty="0" err="1" smtClean="0"/>
              <a:t>MongoDB</a:t>
            </a:r>
            <a:r>
              <a:rPr lang="en-US" sz="4800" dirty="0" smtClean="0"/>
              <a:t> (</a:t>
            </a:r>
            <a:r>
              <a:rPr lang="en-US" sz="4800" dirty="0" err="1" smtClean="0"/>
              <a:t>NoSQL</a:t>
            </a:r>
            <a:r>
              <a:rPr lang="en-US" sz="4800" dirty="0" smtClean="0"/>
              <a:t> document store), </a:t>
            </a:r>
            <a:r>
              <a:rPr lang="en-US" sz="4800" dirty="0" err="1" smtClean="0"/>
              <a:t>Elasticsearch</a:t>
            </a:r>
            <a:r>
              <a:rPr lang="en-US" sz="4800" dirty="0" smtClean="0"/>
              <a:t> (search), and cloud-native options like </a:t>
            </a:r>
            <a:r>
              <a:rPr lang="en-US" sz="4800" dirty="0" err="1" smtClean="0"/>
              <a:t>Dynamodb</a:t>
            </a:r>
            <a:r>
              <a:rPr lang="en-US" sz="4800" dirty="0" smtClean="0"/>
              <a:t> and </a:t>
            </a:r>
            <a:r>
              <a:rPr lang="en-US" sz="4800" dirty="0" err="1" smtClean="0"/>
              <a:t>Supabase</a:t>
            </a:r>
            <a:r>
              <a:rPr lang="en-US" sz="4800" dirty="0" smtClean="0"/>
              <a:t>, indicating a move towards specialized data solutions.</a:t>
            </a:r>
          </a:p>
          <a:p>
            <a:r>
              <a:rPr lang="en-US" sz="4800" b="1" dirty="0" smtClean="0"/>
              <a:t>Cloud-Native is the Present and Future:</a:t>
            </a:r>
            <a:r>
              <a:rPr lang="en-US" sz="4800" dirty="0" smtClean="0"/>
              <a:t> Major cloud providers (Amazon Web Services (AWS), Microsoft Azure, Google Cloud) overwhelmingly dominate the 'platforms worked with' and 'platforms want to work with' categories. Furthermore, the strong presence of </a:t>
            </a:r>
            <a:r>
              <a:rPr lang="en-US" sz="4800" dirty="0" err="1" smtClean="0"/>
              <a:t>serverless</a:t>
            </a:r>
            <a:r>
              <a:rPr lang="en-US" sz="4800" dirty="0" smtClean="0"/>
              <a:t> and edge computing platforms like </a:t>
            </a:r>
            <a:r>
              <a:rPr lang="en-US" sz="4800" dirty="0" err="1" smtClean="0"/>
              <a:t>Vercel</a:t>
            </a:r>
            <a:r>
              <a:rPr lang="en-US" sz="4800" dirty="0" smtClean="0"/>
              <a:t>, </a:t>
            </a:r>
            <a:r>
              <a:rPr lang="en-US" sz="4800" dirty="0" err="1" smtClean="0"/>
              <a:t>Netlify</a:t>
            </a:r>
            <a:r>
              <a:rPr lang="en-US" sz="4800" dirty="0" smtClean="0"/>
              <a:t>, </a:t>
            </a:r>
            <a:r>
              <a:rPr lang="en-US" sz="4800" dirty="0" err="1" smtClean="0"/>
              <a:t>Cloudflare</a:t>
            </a:r>
            <a:r>
              <a:rPr lang="en-US" sz="4800" dirty="0" smtClean="0"/>
              <a:t>, and Firebase highlights the industry's shift towards managed services, scalability, and streamlined deployments.</a:t>
            </a:r>
          </a:p>
          <a:p>
            <a:r>
              <a:rPr lang="en-US" sz="4800" b="1" dirty="0" smtClean="0"/>
              <a:t>Emerging Focus on Performance and Systems Programming:</a:t>
            </a:r>
            <a:r>
              <a:rPr lang="en-US" sz="4800" dirty="0" smtClean="0"/>
              <a:t> A notable trend is the significant jump in desire for languages like Go and Rust compared to their current usage. This indicates a growing appetite among developers for technologies that offer high performance, concurrency, and memory safety, essential for building efficient systems and infrastructure.</a:t>
            </a:r>
          </a:p>
          <a:p>
            <a:pPr marL="0" indent="0">
              <a:buNone/>
            </a:pPr>
            <a:endParaRPr lang="en-US" dirty="0"/>
          </a:p>
        </p:txBody>
      </p:sp>
      <p:sp>
        <p:nvSpPr>
          <p:cNvPr id="4" name="Content Placeholder 3">
            <a:extLst>
              <a:ext uri="{FF2B5EF4-FFF2-40B4-BE49-F238E27FC236}">
                <a16:creationId xmlns:a16="http://schemas.microsoft.com/office/drawing/2014/main" xmlns="" id="{2FDBBA5A-826D-FFFD-F1BE-92269842D330}"/>
              </a:ext>
            </a:extLst>
          </p:cNvPr>
          <p:cNvSpPr>
            <a:spLocks noGrp="1"/>
          </p:cNvSpPr>
          <p:nvPr>
            <p:ph sz="half" idx="2"/>
          </p:nvPr>
        </p:nvSpPr>
        <p:spPr>
          <a:xfrm>
            <a:off x="6172200" y="1825625"/>
            <a:ext cx="5181600" cy="4351338"/>
          </a:xfrm>
        </p:spPr>
        <p:txBody>
          <a:bodyPr>
            <a:normAutofit fontScale="25000" lnSpcReduction="20000"/>
          </a:bodyPr>
          <a:lstStyle/>
          <a:p>
            <a:r>
              <a:rPr lang="en-US" sz="4800" b="1" dirty="0" smtClean="0"/>
              <a:t>Maturity and Refinement in Web Frameworks:</a:t>
            </a:r>
            <a:r>
              <a:rPr lang="en-US" sz="4800" dirty="0" smtClean="0"/>
              <a:t> Unlike languages and databases, the 'Top 10 Web Frameworks Have Worked With' and 'Want To Work With' charts show almost identical results. This suggests that developers are largely satisfied with the current leading frameworks (React, Node.js, Next.js, ASP.NET Core, Vue.js, Angular) and are keen to deepen their expertise within these established ecosystems rather than seeking entirely new paradigms.</a:t>
            </a:r>
          </a:p>
          <a:p>
            <a:endParaRPr lang="en-US" sz="4800" b="1" dirty="0" smtClean="0"/>
          </a:p>
          <a:p>
            <a:endParaRPr lang="en-US" sz="4800" b="1" dirty="0" smtClean="0"/>
          </a:p>
          <a:p>
            <a:r>
              <a:rPr lang="en-US" sz="4800" b="1" dirty="0" smtClean="0"/>
              <a:t>Implications</a:t>
            </a:r>
            <a:r>
              <a:rPr lang="en-US" sz="4800" b="1" dirty="0" smtClean="0"/>
              <a:t>:</a:t>
            </a:r>
          </a:p>
          <a:p>
            <a:r>
              <a:rPr lang="en-US" sz="4800" b="1" dirty="0" smtClean="0"/>
              <a:t>For Developers:</a:t>
            </a:r>
            <a:r>
              <a:rPr lang="en-US" sz="4800" dirty="0" smtClean="0"/>
              <a:t> To remain competitive, focusing on modern web development (JavaScript/</a:t>
            </a:r>
            <a:r>
              <a:rPr lang="en-US" sz="4800" dirty="0" err="1" smtClean="0"/>
              <a:t>TypeScript</a:t>
            </a:r>
            <a:r>
              <a:rPr lang="en-US" sz="4800" dirty="0" smtClean="0"/>
              <a:t>, React/Next.js), strong data management skills (SQL, </a:t>
            </a:r>
            <a:r>
              <a:rPr lang="en-US" sz="4800" dirty="0" err="1" smtClean="0"/>
              <a:t>PostgreSQL</a:t>
            </a:r>
            <a:r>
              <a:rPr lang="en-US" sz="4800" dirty="0" smtClean="0"/>
              <a:t>, </a:t>
            </a:r>
            <a:r>
              <a:rPr lang="en-US" sz="4800" dirty="0" err="1" smtClean="0"/>
              <a:t>NoSQL</a:t>
            </a:r>
            <a:r>
              <a:rPr lang="en-US" sz="4800" dirty="0" smtClean="0"/>
              <a:t>), and proficiency with cloud platforms (AWS, Azure, GCP) is crucial. Exploring performance-oriented languages like Go and Rust could provide a significant advantage in specialized roles.</a:t>
            </a:r>
          </a:p>
          <a:p>
            <a:r>
              <a:rPr lang="en-US" sz="4800" b="1" dirty="0" smtClean="0"/>
              <a:t>For Businesses and Recruiters:</a:t>
            </a:r>
            <a:r>
              <a:rPr lang="en-US" sz="4800" dirty="0" smtClean="0"/>
              <a:t> These trends highlight the key technologies to invest in for infrastructure and product development. Hiring strategies should prioritize candidates with expertise in dominant cloud platforms, modern web stacks, and evolving data solutions. Investing in </a:t>
            </a:r>
            <a:r>
              <a:rPr lang="en-US" sz="4800" dirty="0" err="1" smtClean="0"/>
              <a:t>upskilling</a:t>
            </a:r>
            <a:r>
              <a:rPr lang="en-US" sz="4800" dirty="0" smtClean="0"/>
              <a:t> current teams in these areas will be vital for future-proofing technological capabilities.</a:t>
            </a:r>
          </a:p>
          <a:p>
            <a:r>
              <a:rPr lang="en-US" sz="4800" b="1" dirty="0" smtClean="0"/>
              <a:t>For Education and Training:</a:t>
            </a:r>
            <a:r>
              <a:rPr lang="en-US" sz="4800" dirty="0" smtClean="0"/>
              <a:t> Educational institutions and online learning platforms should continue to emphasize core programming skills while also adapting curricula to include advanced topics in cloud computing, modern web frameworks, and specialized data technologies, as well as introducing languages like Go and Rust to prepare the next generation of developers.</a:t>
            </a:r>
          </a:p>
          <a:p>
            <a:pPr marL="0" indent="0">
              <a:buNone/>
            </a:pPr>
            <a:endParaRPr lang="en-US" dirty="0"/>
          </a:p>
        </p:txBody>
      </p:sp>
    </p:spTree>
    <p:custDataLst>
      <p:tags r:id="rId1"/>
    </p:custDataLst>
    <p:extLst>
      <p:ext uri="{BB962C8B-B14F-4D97-AF65-F5344CB8AC3E}">
        <p14:creationId xmlns:p14="http://schemas.microsoft.com/office/powerpoint/2010/main" xmlns="" val="386563725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D423A16F-6AB5-5C0B-5466-65B2A6AE811E}"/>
            </a:ext>
          </a:extLst>
        </p:cNvPr>
        <p:cNvGrpSpPr/>
        <p:nvPr/>
      </p:nvGrpSpPr>
      <p:grpSpPr>
        <a:xfrm>
          <a:off x="0" y="0"/>
          <a:ext cx="0" cy="0"/>
          <a:chOff x="0" y="0"/>
          <a:chExt cx="0" cy="0"/>
        </a:xfrm>
      </p:grpSpPr>
      <p:sp>
        <p:nvSpPr>
          <p:cNvPr id="11" name="Title 1">
            <a:extLst>
              <a:ext uri="{FF2B5EF4-FFF2-40B4-BE49-F238E27FC236}">
                <a16:creationId xmlns:a16="http://schemas.microsoft.com/office/drawing/2014/main" xmlns="" id="{5E978FF3-BC93-079A-1687-DD4786B81DF4}"/>
              </a:ext>
            </a:extLst>
          </p:cNvPr>
          <p:cNvSpPr>
            <a:spLocks noGrp="1"/>
          </p:cNvSpPr>
          <p:nvPr>
            <p:ph type="title"/>
          </p:nvPr>
        </p:nvSpPr>
        <p:spPr/>
        <p:txBody>
          <a:bodyPr anchor="ctr">
            <a:normAutofit/>
          </a:bodyPr>
          <a:lstStyle/>
          <a:p>
            <a:r>
              <a:rPr lang="en-US" dirty="0"/>
              <a:t>CONCLUSION</a:t>
            </a:r>
          </a:p>
        </p:txBody>
      </p:sp>
      <p:pic>
        <p:nvPicPr>
          <p:cNvPr id="13" name="Content Placeholder 5">
            <a:extLst>
              <a:ext uri="{FF2B5EF4-FFF2-40B4-BE49-F238E27FC236}">
                <a16:creationId xmlns:a16="http://schemas.microsoft.com/office/drawing/2014/main" xmlns="" id="{CD985AE9-0D12-3398-B9B7-4395CABF1707}"/>
              </a:ext>
            </a:extLst>
          </p:cNvPr>
          <p:cNvPicPr>
            <a:picLocks noGrp="1" noChangeAspect="1"/>
          </p:cNvPicPr>
          <p:nvPr>
            <p:ph sz="half" idx="1"/>
          </p:nvPr>
        </p:nvPicPr>
        <p:blipFill>
          <a:blip r:embed="rId3"/>
          <a:stretch>
            <a:fillRect/>
          </a:stretch>
        </p:blipFill>
        <p:spPr>
          <a:xfrm>
            <a:off x="1125967" y="2113896"/>
            <a:ext cx="3054361" cy="3054361"/>
          </a:xfrm>
          <a:prstGeom prst="rect">
            <a:avLst/>
          </a:prstGeom>
        </p:spPr>
      </p:pic>
      <p:sp>
        <p:nvSpPr>
          <p:cNvPr id="12" name="Content Placeholder 3">
            <a:extLst>
              <a:ext uri="{FF2B5EF4-FFF2-40B4-BE49-F238E27FC236}">
                <a16:creationId xmlns:a16="http://schemas.microsoft.com/office/drawing/2014/main" xmlns="" id="{2E75918E-509D-16F8-F478-FA41759FEFE9}"/>
              </a:ext>
            </a:extLst>
          </p:cNvPr>
          <p:cNvSpPr txBox="1">
            <a:spLocks/>
          </p:cNvSpPr>
          <p:nvPr/>
        </p:nvSpPr>
        <p:spPr>
          <a:xfrm>
            <a:off x="4544291" y="1825625"/>
            <a:ext cx="6809509"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endParaRPr lang="en-US" dirty="0"/>
          </a:p>
        </p:txBody>
      </p:sp>
      <p:sp>
        <p:nvSpPr>
          <p:cNvPr id="5" name="Rectangle 4"/>
          <p:cNvSpPr/>
          <p:nvPr/>
        </p:nvSpPr>
        <p:spPr>
          <a:xfrm>
            <a:off x="3897443" y="1779371"/>
            <a:ext cx="8294557" cy="4247317"/>
          </a:xfrm>
          <a:prstGeom prst="rect">
            <a:avLst/>
          </a:prstGeom>
        </p:spPr>
        <p:txBody>
          <a:bodyPr wrap="square">
            <a:spAutoFit/>
          </a:bodyPr>
          <a:lstStyle/>
          <a:p>
            <a:r>
              <a:rPr lang="en-US" sz="1200" b="1" dirty="0" smtClean="0"/>
              <a:t>1. Programming Languages:</a:t>
            </a:r>
            <a:endParaRPr lang="en-US" sz="1200" dirty="0" smtClean="0"/>
          </a:p>
          <a:p>
            <a:r>
              <a:rPr lang="en-US" sz="1200" b="1" dirty="0" smtClean="0"/>
              <a:t>Most Worked With:</a:t>
            </a:r>
            <a:r>
              <a:rPr lang="en-US" sz="1200" dirty="0" smtClean="0"/>
              <a:t> JavaScript is overwhelmingly the most frequently worked-with programming language, followed by SQL and HTML/CSS. This indicates a strong presence of web development and data handling in the respondents' current work.</a:t>
            </a:r>
          </a:p>
          <a:p>
            <a:r>
              <a:rPr lang="en-US" sz="1200" b="1" dirty="0" smtClean="0"/>
              <a:t>Most Want to Work With:</a:t>
            </a:r>
            <a:r>
              <a:rPr lang="en-US" sz="1200" dirty="0" smtClean="0"/>
              <a:t> Similarly, JavaScript is also the most desired language to work with, reinforcing its importance and continued relevance. Python and </a:t>
            </a:r>
            <a:r>
              <a:rPr lang="en-US" sz="1200" dirty="0" err="1" smtClean="0"/>
              <a:t>TypeScript</a:t>
            </a:r>
            <a:r>
              <a:rPr lang="en-US" sz="1200" dirty="0" smtClean="0"/>
              <a:t> also feature prominently, suggesting interest in data science, backend development, and </a:t>
            </a:r>
            <a:r>
              <a:rPr lang="en-US" sz="1200" dirty="0" smtClean="0"/>
              <a:t>scalable </a:t>
            </a:r>
            <a:r>
              <a:rPr lang="en-US" sz="1200" dirty="0" smtClean="0"/>
              <a:t>application development.</a:t>
            </a:r>
          </a:p>
          <a:p>
            <a:r>
              <a:rPr lang="en-US" sz="1200" b="1" dirty="0" smtClean="0"/>
              <a:t>2. Databases:</a:t>
            </a:r>
            <a:endParaRPr lang="en-US" sz="1200" dirty="0" smtClean="0"/>
          </a:p>
          <a:p>
            <a:r>
              <a:rPr lang="en-US" sz="1200" b="1" dirty="0" smtClean="0"/>
              <a:t>Most Worked With &amp; Want to Work With:</a:t>
            </a:r>
            <a:r>
              <a:rPr lang="en-US" sz="1200" dirty="0" smtClean="0"/>
              <a:t> </a:t>
            </a:r>
            <a:r>
              <a:rPr lang="en-US" sz="1200" dirty="0" err="1" smtClean="0"/>
              <a:t>PostgreSQL</a:t>
            </a:r>
            <a:r>
              <a:rPr lang="en-US" sz="1200" dirty="0" smtClean="0"/>
              <a:t> emerges as the most popular database, both in terms of what respondents have worked with and what they want to work with. </a:t>
            </a:r>
            <a:r>
              <a:rPr lang="en-US" sz="1200" dirty="0" err="1" smtClean="0"/>
              <a:t>Redis</a:t>
            </a:r>
            <a:r>
              <a:rPr lang="en-US" sz="1200" dirty="0" smtClean="0"/>
              <a:t>, </a:t>
            </a:r>
            <a:r>
              <a:rPr lang="en-US" sz="1200" dirty="0" err="1" smtClean="0"/>
              <a:t>SQLite</a:t>
            </a:r>
            <a:r>
              <a:rPr lang="en-US" sz="1200" dirty="0" smtClean="0"/>
              <a:t>, </a:t>
            </a:r>
            <a:r>
              <a:rPr lang="en-US" sz="1200" dirty="0" err="1" smtClean="0"/>
              <a:t>MySQL</a:t>
            </a:r>
            <a:r>
              <a:rPr lang="en-US" sz="1200" dirty="0" smtClean="0"/>
              <a:t>, and </a:t>
            </a:r>
            <a:r>
              <a:rPr lang="en-US" sz="1200" dirty="0" err="1" smtClean="0"/>
              <a:t>MongoDB</a:t>
            </a:r>
            <a:r>
              <a:rPr lang="en-US" sz="1200" dirty="0" smtClean="0"/>
              <a:t> are also highly prevalent, covering various use cases from relational to </a:t>
            </a:r>
            <a:r>
              <a:rPr lang="en-US" sz="1200" dirty="0" err="1" smtClean="0"/>
              <a:t>NoSQL</a:t>
            </a:r>
            <a:r>
              <a:rPr lang="en-US" sz="1200" dirty="0" smtClean="0"/>
              <a:t> databases.</a:t>
            </a:r>
          </a:p>
          <a:p>
            <a:r>
              <a:rPr lang="en-US" sz="1200" b="1" dirty="0" smtClean="0"/>
              <a:t>3. Platforms:</a:t>
            </a:r>
            <a:endParaRPr lang="en-US" sz="1200" dirty="0" smtClean="0"/>
          </a:p>
          <a:p>
            <a:r>
              <a:rPr lang="en-US" sz="1200" b="1" dirty="0" smtClean="0"/>
              <a:t>Most Worked With:</a:t>
            </a:r>
            <a:r>
              <a:rPr lang="en-US" sz="1200" dirty="0" smtClean="0"/>
              <a:t> Amazon Web Services (AWS) </a:t>
            </a:r>
            <a:r>
              <a:rPr lang="en-US" sz="1200" b="1" dirty="0" smtClean="0"/>
              <a:t>to Work With:</a:t>
            </a:r>
            <a:r>
              <a:rPr lang="en-US" sz="1200" dirty="0" smtClean="0"/>
              <a:t> AWS again tops the list for platforms respondents want to work with, followed by Microsoft Azure and Google Cloud, showing a consistent preference for the major cloud providers.</a:t>
            </a:r>
          </a:p>
          <a:p>
            <a:r>
              <a:rPr lang="en-US" sz="1200" b="1" dirty="0" smtClean="0"/>
              <a:t>4. Web </a:t>
            </a:r>
            <a:r>
              <a:rPr lang="en-US" sz="1200" b="1" dirty="0" err="1" smtClean="0"/>
              <a:t>Frameworks</a:t>
            </a:r>
            <a:r>
              <a:rPr lang="en-US" sz="1200" dirty="0" err="1" smtClean="0"/>
              <a:t>is</a:t>
            </a:r>
            <a:r>
              <a:rPr lang="en-US" sz="1200" dirty="0" smtClean="0"/>
              <a:t> </a:t>
            </a:r>
            <a:r>
              <a:rPr lang="en-US" sz="1200" dirty="0" smtClean="0"/>
              <a:t>the dominant cloud platform, significantly ahead of Microsoft Azure and Google Cloud. This highlights its market leadership in cloud infrastructure.</a:t>
            </a:r>
          </a:p>
          <a:p>
            <a:r>
              <a:rPr lang="en-US" sz="1200" b="1" dirty="0" smtClean="0"/>
              <a:t>Most Want </a:t>
            </a:r>
            <a:r>
              <a:rPr lang="en-US" sz="1200" b="1" dirty="0" smtClean="0"/>
              <a:t>:</a:t>
            </a:r>
            <a:endParaRPr lang="en-US" sz="1200" dirty="0" smtClean="0"/>
          </a:p>
          <a:p>
            <a:r>
              <a:rPr lang="en-US" sz="1200" b="1" dirty="0" smtClean="0"/>
              <a:t>Most Worked With &amp; Want to Work With:</a:t>
            </a:r>
            <a:r>
              <a:rPr lang="en-US" sz="1200" dirty="0" smtClean="0"/>
              <a:t> React and Node.js are the two most prominent web frameworks, both for current experience and future interest. Next.js, ASP.NET Core, and Vue.js also show significant popularity, reflecting trends in modern web development, particularly in front-end and full-stack JavaScript ecosystems.</a:t>
            </a:r>
          </a:p>
          <a:p>
            <a:endParaRPr lang="en-US" dirty="0"/>
          </a:p>
        </p:txBody>
      </p:sp>
    </p:spTree>
    <p:custDataLst>
      <p:tags r:id="rId1"/>
    </p:custDataLst>
    <p:extLst>
      <p:ext uri="{BB962C8B-B14F-4D97-AF65-F5344CB8AC3E}">
        <p14:creationId xmlns:p14="http://schemas.microsoft.com/office/powerpoint/2010/main" xmlns="" val="84037823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sz="half" idx="2"/>
          </p:nvPr>
        </p:nvSpPr>
        <p:spPr>
          <a:xfrm>
            <a:off x="1469036" y="1888760"/>
            <a:ext cx="9884764" cy="4283439"/>
          </a:xfrm>
        </p:spPr>
        <p:txBody>
          <a:bodyPr>
            <a:normAutofit/>
          </a:bodyPr>
          <a:lstStyle/>
          <a:p>
            <a:r>
              <a:rPr lang="en-US" sz="1700" b="1" dirty="0" smtClean="0"/>
              <a:t>Overall </a:t>
            </a:r>
            <a:r>
              <a:rPr lang="en-US" sz="1700" b="1" dirty="0" smtClean="0"/>
              <a:t>Trends:</a:t>
            </a:r>
            <a:endParaRPr lang="en-US" sz="1700" dirty="0" smtClean="0"/>
          </a:p>
          <a:p>
            <a:r>
              <a:rPr lang="en-US" sz="1700" dirty="0" smtClean="0"/>
              <a:t>There's a strong consistency between the technologies developers </a:t>
            </a:r>
            <a:r>
              <a:rPr lang="en-US" sz="1700" b="1" dirty="0" smtClean="0"/>
              <a:t>have worked with</a:t>
            </a:r>
            <a:r>
              <a:rPr lang="en-US" sz="1700" dirty="0" smtClean="0"/>
              <a:t> and those they </a:t>
            </a:r>
            <a:r>
              <a:rPr lang="en-US" sz="1700" b="1" dirty="0" smtClean="0"/>
              <a:t>want to work with</a:t>
            </a:r>
            <a:r>
              <a:rPr lang="en-US" sz="1700" dirty="0" smtClean="0"/>
              <a:t>. This suggests that many developers are either satisfied with their current tech stack or are actively seeking to deepen their expertise in already familiar popular technologies.</a:t>
            </a:r>
          </a:p>
          <a:p>
            <a:r>
              <a:rPr lang="en-US" sz="1700" b="1" dirty="0" smtClean="0"/>
              <a:t>JavaScript and its ecosystem (Node.js, React, Next.js, </a:t>
            </a:r>
            <a:r>
              <a:rPr lang="en-US" sz="1700" b="1" dirty="0" err="1" smtClean="0"/>
              <a:t>TypeScript</a:t>
            </a:r>
            <a:r>
              <a:rPr lang="en-US" sz="1700" b="1" dirty="0" smtClean="0"/>
              <a:t>)</a:t>
            </a:r>
            <a:r>
              <a:rPr lang="en-US" sz="1700" dirty="0" smtClean="0"/>
              <a:t> continue to dominate the web development landscape.</a:t>
            </a:r>
          </a:p>
          <a:p>
            <a:r>
              <a:rPr lang="en-US" sz="1700" b="1" dirty="0" smtClean="0"/>
              <a:t>Cloud platforms, especially AWS</a:t>
            </a:r>
            <a:r>
              <a:rPr lang="en-US" sz="1700" dirty="0" smtClean="0"/>
              <a:t>, are critical components of modern development workflows.</a:t>
            </a:r>
          </a:p>
          <a:p>
            <a:r>
              <a:rPr lang="en-US" sz="1700" b="1" dirty="0" err="1" smtClean="0"/>
              <a:t>PostgreSQL</a:t>
            </a:r>
            <a:r>
              <a:rPr lang="en-US" sz="1700" dirty="0" smtClean="0"/>
              <a:t> stands out as a highly preferred database solution.</a:t>
            </a:r>
          </a:p>
          <a:p>
            <a:endParaRPr lang="en-US"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BAD1598F-DBE3-7B78-D1F9-0BA7F7DC75BC}"/>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xmlns="" id="{34A3B939-6057-23B6-25B3-E33A2D205C2A}"/>
              </a:ext>
            </a:extLst>
          </p:cNvPr>
          <p:cNvSpPr>
            <a:spLocks noGrp="1"/>
          </p:cNvSpPr>
          <p:nvPr>
            <p:ph type="title"/>
          </p:nvPr>
        </p:nvSpPr>
        <p:spPr/>
        <p:txBody>
          <a:bodyPr anchor="ctr">
            <a:normAutofit/>
          </a:bodyPr>
          <a:lstStyle/>
          <a:p>
            <a:r>
              <a:rPr lang="en-US" dirty="0"/>
              <a:t>APPENDIX</a:t>
            </a:r>
          </a:p>
        </p:txBody>
      </p:sp>
      <p:pic>
        <p:nvPicPr>
          <p:cNvPr id="11" name="Content Placeholder 3">
            <a:extLst>
              <a:ext uri="{FF2B5EF4-FFF2-40B4-BE49-F238E27FC236}">
                <a16:creationId xmlns:a16="http://schemas.microsoft.com/office/drawing/2014/main" xmlns="" id="{E8E550E5-7A15-A106-D083-8C1433A790A1}"/>
              </a:ext>
            </a:extLst>
          </p:cNvPr>
          <p:cNvPicPr>
            <a:picLocks noGrp="1" noChangeAspect="1"/>
          </p:cNvPicPr>
          <p:nvPr>
            <p:ph sz="half" idx="1"/>
          </p:nvPr>
        </p:nvPicPr>
        <p:blipFill>
          <a:blip r:embed="rId3"/>
          <a:stretch>
            <a:fillRect/>
          </a:stretch>
        </p:blipFill>
        <p:spPr>
          <a:xfrm>
            <a:off x="291358" y="1528996"/>
            <a:ext cx="2571027" cy="2571027"/>
          </a:xfrm>
          <a:prstGeom prst="rect">
            <a:avLst/>
          </a:prstGeom>
        </p:spPr>
      </p:pic>
      <p:sp>
        <p:nvSpPr>
          <p:cNvPr id="10" name="Content Placeholder 3">
            <a:extLst>
              <a:ext uri="{FF2B5EF4-FFF2-40B4-BE49-F238E27FC236}">
                <a16:creationId xmlns:a16="http://schemas.microsoft.com/office/drawing/2014/main" xmlns="" id="{8E40FF55-AE57-CB43-454D-CEFBE080CE8E}"/>
              </a:ext>
            </a:extLst>
          </p:cNvPr>
          <p:cNvSpPr txBox="1">
            <a:spLocks/>
          </p:cNvSpPr>
          <p:nvPr/>
        </p:nvSpPr>
        <p:spPr>
          <a:xfrm>
            <a:off x="4544291" y="1825625"/>
            <a:ext cx="6809509"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endParaRPr lang="en-US" dirty="0"/>
          </a:p>
        </p:txBody>
      </p:sp>
      <p:pic>
        <p:nvPicPr>
          <p:cNvPr id="7" name="Picture 6" descr="coing.png"/>
          <p:cNvPicPr>
            <a:picLocks noChangeAspect="1"/>
          </p:cNvPicPr>
          <p:nvPr/>
        </p:nvPicPr>
        <p:blipFill>
          <a:blip r:embed="rId4"/>
          <a:stretch>
            <a:fillRect/>
          </a:stretch>
        </p:blipFill>
        <p:spPr>
          <a:xfrm>
            <a:off x="3072984" y="1545174"/>
            <a:ext cx="7687261" cy="4927957"/>
          </a:xfrm>
          <a:prstGeom prst="rect">
            <a:avLst/>
          </a:prstGeom>
        </p:spPr>
      </p:pic>
    </p:spTree>
    <p:custDataLst>
      <p:tags r:id="rId1"/>
    </p:custDataLst>
    <p:extLst>
      <p:ext uri="{BB962C8B-B14F-4D97-AF65-F5344CB8AC3E}">
        <p14:creationId xmlns:p14="http://schemas.microsoft.com/office/powerpoint/2010/main" xmlns="" val="186015865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itribution.png"/>
          <p:cNvPicPr>
            <a:picLocks noGrp="1" noChangeAspect="1"/>
          </p:cNvPicPr>
          <p:nvPr>
            <p:ph sz="half" idx="1"/>
          </p:nvPr>
        </p:nvPicPr>
        <p:blipFill>
          <a:blip r:embed="rId2"/>
          <a:stretch>
            <a:fillRect/>
          </a:stretch>
        </p:blipFill>
        <p:spPr>
          <a:xfrm>
            <a:off x="2247275" y="1543913"/>
            <a:ext cx="7773811" cy="4916847"/>
          </a:xfrm>
        </p:spPr>
      </p:pic>
    </p:spTree>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ARTICULATE_SLIDE_COUNT" val="18"/>
  <p:tag name="ARTICULATE_DESIGN_ID_SLIDE_TEMPLATE_SKILL_NETWORK" val="762xjmeN"/>
  <p:tag name="ARTICULATE_DESIGN_ID_IBM DEVELOPER 2018 WHITE BACKGROUND" val="AcyDFp8V"/>
  <p:tag name="ARTICULATE_SLIDE_THUMBNAIL_REFRESH" val="1"/>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SLIDE_TEMPLATE_skill_network">
  <a:themeElements>
    <a:clrScheme name="IBM Skills Network">
      <a:dk1>
        <a:srgbClr val="262626"/>
      </a:dk1>
      <a:lt1>
        <a:srgbClr val="525252"/>
      </a:lt1>
      <a:dk2>
        <a:srgbClr val="FFFFFF"/>
      </a:dk2>
      <a:lt2>
        <a:srgbClr val="FFFFFF"/>
      </a:lt2>
      <a:accent1>
        <a:srgbClr val="6C4DEA"/>
      </a:accent1>
      <a:accent2>
        <a:srgbClr val="82CFFF"/>
      </a:accent2>
      <a:accent3>
        <a:srgbClr val="FF7EB6"/>
      </a:accent3>
      <a:accent4>
        <a:srgbClr val="3DDBD9"/>
      </a:accent4>
      <a:accent5>
        <a:srgbClr val="5B9BD5"/>
      </a:accent5>
      <a:accent6>
        <a:srgbClr val="525252"/>
      </a:accent6>
      <a:hlink>
        <a:srgbClr val="C1C7CD"/>
      </a:hlink>
      <a:folHlink>
        <a:srgbClr val="DA1E28"/>
      </a:folHlink>
    </a:clrScheme>
    <a:fontScheme name="IBM Skills Network">
      <a:majorFont>
        <a:latin typeface="IBM Plex Sans SemiBold"/>
        <a:ea typeface=""/>
        <a:cs typeface=""/>
      </a:majorFont>
      <a:minorFont>
        <a:latin typeface="IBM Plex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IBM Skills Network PPT Template 01.2023.pptx" id="{565886F7-76CC-4370-877F-2511E1EB1B28}" vid="{AD061E48-3596-4052-9172-46F1919207B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05445547-4CD8-432E-8B58-E443FD17F88F}">
  <we:reference id="wa200005566" version="3.0.0.3" store="en-US" storeType="OMEX"/>
  <we:alternateReferences>
    <we:reference id="wa200005566" version="3.0.0.3" store="wa200005566"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155be751-a274-42e8-93fb-f39d3b9bccc8">
      <Terms xmlns="http://schemas.microsoft.com/office/infopath/2007/PartnerControls"/>
    </lcf76f155ced4ddcb4097134ff3c332f>
    <TaxCatchAll xmlns="f80a141d-92ca-4d3d-9308-f7e7b1d44ce8" xsi:nil="true"/>
    <AWBlink xmlns="155be751-a274-42e8-93fb-f39d3b9bccc8"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EECD86F56755A646AC8AFCBCBD967F21" ma:contentTypeVersion="19" ma:contentTypeDescription="Create a new document." ma:contentTypeScope="" ma:versionID="d7279d4efbac013e02c1e816bc7f7c13">
  <xsd:schema xmlns:xsd="http://www.w3.org/2001/XMLSchema" xmlns:xs="http://www.w3.org/2001/XMLSchema" xmlns:p="http://schemas.microsoft.com/office/2006/metadata/properties" xmlns:ns2="155be751-a274-42e8-93fb-f39d3b9bccc8" xmlns:ns3="f80a141d-92ca-4d3d-9308-f7e7b1d44ce8" targetNamespace="http://schemas.microsoft.com/office/2006/metadata/properties" ma:root="true" ma:fieldsID="0a3fd1dbe83fc08387abb87098562ef0" ns2:_="" ns3:_="">
    <xsd:import namespace="155be751-a274-42e8-93fb-f39d3b9bccc8"/>
    <xsd:import namespace="f80a141d-92ca-4d3d-9308-f7e7b1d44ce8"/>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DateTaken" minOccurs="0"/>
                <xsd:element ref="ns2:MediaServiceGenerationTime" minOccurs="0"/>
                <xsd:element ref="ns2:MediaServiceEventHashCode" minOccurs="0"/>
                <xsd:element ref="ns2:MediaServiceAutoKeyPoints" minOccurs="0"/>
                <xsd:element ref="ns2:MediaServiceKeyPoints" minOccurs="0"/>
                <xsd:element ref="ns3:SharedWithUsers" minOccurs="0"/>
                <xsd:element ref="ns3:SharedWithDetails" minOccurs="0"/>
                <xsd:element ref="ns2:MediaServiceLocation" minOccurs="0"/>
                <xsd:element ref="ns2:MediaLengthInSeconds" minOccurs="0"/>
                <xsd:element ref="ns2:lcf76f155ced4ddcb4097134ff3c332f" minOccurs="0"/>
                <xsd:element ref="ns3:TaxCatchAll" minOccurs="0"/>
                <xsd:element ref="ns2:MediaServiceObjectDetectorVersions" minOccurs="0"/>
                <xsd:element ref="ns2:AWBlink"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55be751-a274-42e8-93fb-f39d3b9bccc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1bfc8dc1-ab14-4a6b-8a4a-9f7f0b948a94"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AWBlink" ma:index="25" nillable="true" ma:displayName="AWB link" ma:description="Author Workbench link" ma:format="Dropdown" ma:internalName="AWBlink">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80a141d-92ca-4d3d-9308-f7e7b1d44ce8"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02edd55d-11a0-43df-8094-42adcb6055ca}" ma:internalName="TaxCatchAll" ma:showField="CatchAllData" ma:web="f80a141d-92ca-4d3d-9308-f7e7b1d44ce8">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4DA07C5-A406-4A0D-B3E6-3856C94AC7F3}">
  <ds:schemaRefs>
    <ds:schemaRef ds:uri="155be751-a274-42e8-93fb-f39d3b9bccc8"/>
    <ds:schemaRef ds:uri="http://purl.org/dc/elements/1.1/"/>
    <ds:schemaRef ds:uri="http://schemas.microsoft.com/office/2006/metadata/properties"/>
    <ds:schemaRef ds:uri="http://schemas.microsoft.com/office/2006/documentManagement/types"/>
    <ds:schemaRef ds:uri="http://schemas.openxmlformats.org/package/2006/metadata/core-properties"/>
    <ds:schemaRef ds:uri="http://purl.org/dc/dcmitype/"/>
    <ds:schemaRef ds:uri="http://schemas.microsoft.com/office/infopath/2007/PartnerControls"/>
    <ds:schemaRef ds:uri="f80a141d-92ca-4d3d-9308-f7e7b1d44ce8"/>
    <ds:schemaRef ds:uri="http://www.w3.org/XML/1998/namespace"/>
    <ds:schemaRef ds:uri="http://purl.org/dc/terms/"/>
  </ds:schemaRefs>
</ds:datastoreItem>
</file>

<file path=customXml/itemProps2.xml><?xml version="1.0" encoding="utf-8"?>
<ds:datastoreItem xmlns:ds="http://schemas.openxmlformats.org/officeDocument/2006/customXml" ds:itemID="{BEAB06F8-DBB4-44C7-AF84-8B098C8B039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55be751-a274-42e8-93fb-f39d3b9bccc8"/>
    <ds:schemaRef ds:uri="f80a141d-92ca-4d3d-9308-f7e7b1d44ce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7EFDA260-DDA0-422C-B7AE-778F653FBB3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464</TotalTime>
  <Words>1203</Words>
  <Application>Microsoft Office PowerPoint</Application>
  <PresentationFormat>Custom</PresentationFormat>
  <Paragraphs>158</Paragraphs>
  <Slides>23</Slides>
  <Notes>1</Notes>
  <HiddenSlides>0</HiddenSlides>
  <MMClips>0</MMClips>
  <ScaleCrop>false</ScaleCrop>
  <HeadingPairs>
    <vt:vector size="4" baseType="variant">
      <vt:variant>
        <vt:lpstr>Theme</vt:lpstr>
      </vt:variant>
      <vt:variant>
        <vt:i4>1</vt:i4>
      </vt:variant>
      <vt:variant>
        <vt:lpstr>Slide Titles</vt:lpstr>
      </vt:variant>
      <vt:variant>
        <vt:i4>23</vt:i4>
      </vt:variant>
    </vt:vector>
  </HeadingPairs>
  <TitlesOfParts>
    <vt:vector size="24" baseType="lpstr">
      <vt:lpstr>SLIDE_TEMPLATE_skill_network</vt:lpstr>
      <vt:lpstr>IBM Data Analyst Capstone Project</vt:lpstr>
      <vt:lpstr>Slide 2</vt:lpstr>
      <vt:lpstr>EXECUTIVE SUMMARY</vt:lpstr>
      <vt:lpstr>INTRODUCTION</vt:lpstr>
      <vt:lpstr>INTRODUCTION</vt:lpstr>
      <vt:lpstr>METHODOLOGY</vt:lpstr>
      <vt:lpstr>Results</vt:lpstr>
      <vt:lpstr> JOB POSTINGS</vt:lpstr>
      <vt:lpstr>POPULAR LANGUAGES</vt:lpstr>
      <vt:lpstr>PROGRAMMING LANGUAGE TRENDS</vt:lpstr>
      <vt:lpstr>PROGRAMMING LANGUAGE TRENDS - FINDINGS &amp; IMPLICATIONS</vt:lpstr>
      <vt:lpstr>DATABASE TRENDS</vt:lpstr>
      <vt:lpstr>DATABASE TRENDS - FINDINGS &amp; IMPLICATIONS</vt:lpstr>
      <vt:lpstr>DASHBOARD</vt:lpstr>
      <vt:lpstr>DASHBOARD TAB 1: Current Technology Usage</vt:lpstr>
      <vt:lpstr>DASHBOARD TAB 2: Future Technology Trends</vt:lpstr>
      <vt:lpstr>DASHBOARD TAB 3: Demographics</vt:lpstr>
      <vt:lpstr>DISCUSSION</vt:lpstr>
      <vt:lpstr>OVERALL FINDINGS &amp; IMPLICATIONS</vt:lpstr>
      <vt:lpstr>CONCLUSION</vt:lpstr>
      <vt:lpstr>Slide 21</vt:lpstr>
      <vt:lpstr>APPENDIX</vt:lpstr>
      <vt:lpstr>Slide 23</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IBM Data Analyst Capstone Project</dc:title>
  <dc:creator>Tori Sleeper</dc:creator>
  <cp:lastModifiedBy>DELL</cp:lastModifiedBy>
  <cp:revision>29</cp:revision>
  <dcterms:created xsi:type="dcterms:W3CDTF">2024-10-30T05:40:03Z</dcterms:created>
  <dcterms:modified xsi:type="dcterms:W3CDTF">2026-03-31T02:13:31Z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0x010100EECD86F56755A646AC8AFCBCBD967F21</vt:lpwstr>
  </property>
  <property fmtid="{D5CDD505-2E9C-101B-9397-08002B2CF9AE}" pid="3" name="MediaServiceImageTags">
    <vt:lpwstr/>
  </property>
  <property fmtid="{D5CDD505-2E9C-101B-9397-08002B2CF9AE}" pid="4" name="ArticulateGUID">
    <vt:lpwstr>07C438A6-8092-445C-AC0D-AE1422093206</vt:lpwstr>
  </property>
  <property fmtid="{D5CDD505-2E9C-101B-9397-08002B2CF9AE}" pid="5" name="ArticulatePath">
    <vt:lpwstr>https://skilluptech.sharepoint.com/sites/Coursera/Shared Documents/General/PPT template/IBM Skills Network PPT Template 01.2023</vt:lpwstr>
  </property>
</Properties>
</file>